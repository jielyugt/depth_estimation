
<file path=[Content_Types].xml><?xml version="1.0" encoding="utf-8"?>
<Types xmlns="http://schemas.openxmlformats.org/package/2006/content-types">
  <Default Extension="xml" ContentType="application/xml"/>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showComments="0">
  <p:normalViewPr>
    <p:restoredLeft sz="12997"/>
    <p:restoredTop sz="94674"/>
  </p:normalViewPr>
  <p:slideViewPr>
    <p:cSldViewPr snapToGrid="0">
      <p:cViewPr>
        <p:scale>
          <a:sx n="127" d="100"/>
          <a:sy n="127" d="100"/>
        </p:scale>
        <p:origin x="1352" y="79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6415312573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641531257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6415312573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6415312573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6415312573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6415312573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6415312573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6415312573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6417f8eab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6417f8eab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6415312573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6415312573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6415312573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6415312573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6415312573_0_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6415312573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6417f8eabd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6417f8eabd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6417f8eabd_1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6417f8eabd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6417f8eabd_2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6417f8eabd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6415312573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6415312573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6417f8eabd_2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6417f8eabd_2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6417f8eabd_2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6417f8eabd_2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6417f8eabd_2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6417f8eabd_2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6439654ed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6439654ed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6439654edd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6439654edd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6417f8eabd_2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6417f8eabd_2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6417f8eabd_2_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6417f8eabd_2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6417f8eabd_2_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6417f8eabd_2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6417f8eabd_1_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6417f8eabd_1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4" Type="http://schemas.openxmlformats.org/officeDocument/2006/relationships/image" Target="../media/image7.png"/><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4" Type="http://schemas.openxmlformats.org/officeDocument/2006/relationships/image" Target="../media/image21.png"/><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18.png"/><Relationship Id="rId6" Type="http://schemas.openxmlformats.org/officeDocument/2006/relationships/image" Target="../media/image24.png"/><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2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CS 4476 Project 4</a:t>
            </a:r>
            <a:endParaRPr/>
          </a:p>
        </p:txBody>
      </p:sp>
      <p:sp>
        <p:nvSpPr>
          <p:cNvPr id="55" name="Google Shape;55;p1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smtClean="0"/>
              <a:t>Jie Lyu</a:t>
            </a:r>
            <a:endParaRPr dirty="0"/>
          </a:p>
          <a:p>
            <a:pPr marL="0" lvl="0" indent="0" algn="ctr" rtl="0">
              <a:spcBef>
                <a:spcPts val="0"/>
              </a:spcBef>
              <a:spcAft>
                <a:spcPts val="0"/>
              </a:spcAft>
              <a:buNone/>
            </a:pPr>
            <a:r>
              <a:rPr lang="en-US" dirty="0" smtClean="0"/>
              <a:t>jlyu31@gatech.edu</a:t>
            </a:r>
            <a:endParaRPr dirty="0"/>
          </a:p>
          <a:p>
            <a:pPr marL="0" lvl="0" indent="0" algn="ctr" rtl="0">
              <a:spcBef>
                <a:spcPts val="0"/>
              </a:spcBef>
              <a:spcAft>
                <a:spcPts val="0"/>
              </a:spcAft>
              <a:buNone/>
            </a:pPr>
            <a:r>
              <a:rPr lang="en-US" dirty="0" smtClean="0"/>
              <a:t>903329676</a:t>
            </a:r>
            <a:endParaRPr dirty="0"/>
          </a:p>
          <a:p>
            <a:pPr marL="0" lvl="0" indent="0" algn="ctr" rtl="0">
              <a:spcBef>
                <a:spcPts val="0"/>
              </a:spcBef>
              <a:spcAft>
                <a:spcPts val="0"/>
              </a:spcAft>
              <a:buNone/>
            </a:pP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Part 1</a:t>
            </a:r>
            <a:endParaRPr/>
          </a:p>
        </p:txBody>
      </p:sp>
      <p:sp>
        <p:nvSpPr>
          <p:cNvPr id="61" name="Google Shape;61;p14"/>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a:spLocks noGrp="1"/>
          </p:cNvSpPr>
          <p:nvPr>
            <p:ph type="body" idx="1"/>
          </p:nvPr>
        </p:nvSpPr>
        <p:spPr>
          <a:xfrm>
            <a:off x="311700" y="438800"/>
            <a:ext cx="3999900" cy="4130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What is the relation between disparity map and depth? [Text/Equations/Drawing whatever you feel is relevant</a:t>
            </a:r>
            <a:r>
              <a:rPr lang="en" b="1" dirty="0" smtClean="0"/>
              <a:t>]</a:t>
            </a:r>
          </a:p>
          <a:p>
            <a:pPr marL="0" lvl="0" indent="0" algn="l" rtl="0">
              <a:spcBef>
                <a:spcPts val="1600"/>
              </a:spcBef>
              <a:spcAft>
                <a:spcPts val="1600"/>
              </a:spcAft>
              <a:buNone/>
            </a:pPr>
            <a:r>
              <a:rPr lang="en-US" dirty="0" smtClean="0"/>
              <a:t>In a pair of stereo images, objects closer to the camera (less depth) will shift more than objects further away (more depth), thus having larger disparity. In a visualized disparity map, depth can be shown with color. In this project, objects further away appear to be more blue, and objects closer to camera appear to be more red.</a:t>
            </a:r>
            <a:br>
              <a:rPr lang="en-US" dirty="0" smtClean="0"/>
            </a:br>
            <a:r>
              <a:rPr lang="en-US" dirty="0" smtClean="0"/>
              <a:t/>
            </a:r>
            <a:br>
              <a:rPr lang="en-US" dirty="0" smtClean="0"/>
            </a:br>
            <a:endParaRPr dirty="0"/>
          </a:p>
        </p:txBody>
      </p:sp>
      <p:sp>
        <p:nvSpPr>
          <p:cNvPr id="67" name="Google Shape;67;p15"/>
          <p:cNvSpPr txBox="1">
            <a:spLocks noGrp="1"/>
          </p:cNvSpPr>
          <p:nvPr>
            <p:ph type="body" idx="2"/>
          </p:nvPr>
        </p:nvSpPr>
        <p:spPr>
          <a:xfrm>
            <a:off x="4832400" y="438774"/>
            <a:ext cx="3999900" cy="470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Random dot stereogram image [51x51x3] + Can you judge depth by looking them?</a:t>
            </a:r>
            <a:endParaRPr b="1" dirty="0"/>
          </a:p>
          <a:p>
            <a:pPr marL="0" lvl="0" indent="0" algn="l" rtl="0">
              <a:spcBef>
                <a:spcPts val="1600"/>
              </a:spcBef>
              <a:spcAft>
                <a:spcPts val="0"/>
              </a:spcAft>
              <a:buNone/>
            </a:pPr>
            <a:endParaRPr dirty="0"/>
          </a:p>
          <a:p>
            <a:pPr marL="0" lvl="0" indent="0" algn="l" rtl="0">
              <a:spcBef>
                <a:spcPts val="1600"/>
              </a:spcBef>
              <a:spcAft>
                <a:spcPts val="0"/>
              </a:spcAft>
              <a:buNone/>
            </a:pPr>
            <a:endParaRPr dirty="0"/>
          </a:p>
          <a:p>
            <a:pPr marL="0" lvl="0" indent="0" algn="l" rtl="0">
              <a:spcBef>
                <a:spcPts val="1600"/>
              </a:spcBef>
              <a:spcAft>
                <a:spcPts val="0"/>
              </a:spcAft>
              <a:buNone/>
            </a:pPr>
            <a:endParaRPr dirty="0"/>
          </a:p>
          <a:p>
            <a:pPr marL="0" lvl="0" indent="0" algn="l" rtl="0">
              <a:spcBef>
                <a:spcPts val="1600"/>
              </a:spcBef>
              <a:spcAft>
                <a:spcPts val="0"/>
              </a:spcAft>
              <a:buNone/>
            </a:pPr>
            <a:endParaRPr dirty="0"/>
          </a:p>
          <a:p>
            <a:pPr marL="0" lvl="0" indent="0" algn="l" rtl="0">
              <a:spcBef>
                <a:spcPts val="1600"/>
              </a:spcBef>
              <a:spcAft>
                <a:spcPts val="0"/>
              </a:spcAft>
              <a:buNone/>
            </a:pPr>
            <a:endParaRPr lang="en-US" dirty="0" smtClean="0"/>
          </a:p>
          <a:p>
            <a:pPr marL="0" lvl="0" indent="0" algn="l" rtl="0">
              <a:spcBef>
                <a:spcPts val="1600"/>
              </a:spcBef>
              <a:spcAft>
                <a:spcPts val="0"/>
              </a:spcAft>
              <a:buNone/>
            </a:pPr>
            <a:r>
              <a:rPr lang="en-US" dirty="0" smtClean="0"/>
              <a:t>No, I cannot judge depth by looking at the stereograms. (If I overlap them and change quickly from one to another, I can see a square in the center shifting. If I were given a natural pair of images like flowers, I can get the depth, but for stereograms, no I cannot)</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46450" y="1385082"/>
            <a:ext cx="3371800" cy="167411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6"/>
          <p:cNvSpPr txBox="1">
            <a:spLocks noGrp="1"/>
          </p:cNvSpPr>
          <p:nvPr>
            <p:ph type="body" idx="1"/>
          </p:nvPr>
        </p:nvSpPr>
        <p:spPr>
          <a:xfrm>
            <a:off x="311700" y="438775"/>
            <a:ext cx="3999900" cy="4130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Random dot stereogram disparity </a:t>
            </a:r>
            <a:r>
              <a:rPr lang="en" b="1" dirty="0" smtClean="0"/>
              <a:t>maps</a:t>
            </a:r>
            <a:endParaRPr b="1" dirty="0"/>
          </a:p>
        </p:txBody>
      </p:sp>
      <p:sp>
        <p:nvSpPr>
          <p:cNvPr id="73" name="Google Shape;73;p16"/>
          <p:cNvSpPr txBox="1">
            <a:spLocks noGrp="1"/>
          </p:cNvSpPr>
          <p:nvPr>
            <p:ph type="body" idx="2"/>
          </p:nvPr>
        </p:nvSpPr>
        <p:spPr>
          <a:xfrm>
            <a:off x="4832400" y="438775"/>
            <a:ext cx="3999900" cy="4130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What is the effect of increasing the block size? Explain the reasoning behind </a:t>
            </a:r>
            <a:r>
              <a:rPr lang="en" b="1" dirty="0" smtClean="0"/>
              <a:t>it?</a:t>
            </a:r>
            <a:endParaRPr lang="en-US" b="1" dirty="0"/>
          </a:p>
          <a:p>
            <a:pPr marL="0" lvl="0" indent="0" algn="l" rtl="0">
              <a:spcBef>
                <a:spcPts val="0"/>
              </a:spcBef>
              <a:spcAft>
                <a:spcPts val="0"/>
              </a:spcAft>
              <a:buNone/>
            </a:pPr>
            <a:endParaRPr lang="en-US" sz="1000" b="1" dirty="0" smtClean="0"/>
          </a:p>
          <a:p>
            <a:pPr marL="0" lvl="0" indent="0" algn="l" rtl="0">
              <a:spcBef>
                <a:spcPts val="0"/>
              </a:spcBef>
              <a:spcAft>
                <a:spcPts val="0"/>
              </a:spcAft>
              <a:buNone/>
            </a:pPr>
            <a:endParaRPr lang="en-US" sz="1000" dirty="0" smtClean="0"/>
          </a:p>
          <a:p>
            <a:pPr marL="0" lvl="0" indent="0" algn="l" rtl="0">
              <a:spcBef>
                <a:spcPts val="0"/>
              </a:spcBef>
              <a:spcAft>
                <a:spcPts val="0"/>
              </a:spcAft>
              <a:buNone/>
            </a:pPr>
            <a:r>
              <a:rPr lang="en-US" sz="1000" dirty="0" smtClean="0"/>
              <a:t>A bigger block size will include more information for matching and thus giving us more confident. In a real world image, images can be quite different on pixel level since cameras are not perfect. Random noises and lighting can make a 3*3 window completely different from another 3*3 windows taken on the same object. A bigger window size takes in more information, thus making the unwanted variations insignificant.</a:t>
            </a:r>
          </a:p>
          <a:p>
            <a:pPr marL="0" lvl="0" indent="0" algn="l" rtl="0">
              <a:spcBef>
                <a:spcPts val="0"/>
              </a:spcBef>
              <a:spcAft>
                <a:spcPts val="0"/>
              </a:spcAft>
              <a:buNone/>
            </a:pPr>
            <a:endParaRPr lang="en-US" sz="1000" dirty="0" smtClean="0"/>
          </a:p>
          <a:p>
            <a:pPr marL="0" lvl="0" indent="0" algn="l" rtl="0">
              <a:spcBef>
                <a:spcPts val="0"/>
              </a:spcBef>
              <a:spcAft>
                <a:spcPts val="0"/>
              </a:spcAft>
              <a:buNone/>
            </a:pPr>
            <a:r>
              <a:rPr lang="en-US" sz="1000" dirty="0" smtClean="0"/>
              <a:t>The effect can be seen from out random dot stereogram disparity maps.</a:t>
            </a:r>
            <a:r>
              <a:rPr lang="en-US" sz="1000" dirty="0"/>
              <a:t> </a:t>
            </a:r>
            <a:r>
              <a:rPr lang="en-US" sz="1000" dirty="0" smtClean="0"/>
              <a:t>In the 3*3 sized one, there are some noise in the green square. It is because when we are shifting the matching window to the left, it sees some blocks with exactly the same contents on the way. So it picked the block with less disparity. As a result, we can see some blue dots in the big green square. However, as we increase the block size, the situation is less likely to happen, as we don’t see any noises in the 9*9 and 13*13 maps.</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6082" y="805693"/>
            <a:ext cx="2468621" cy="1051560"/>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6082" y="1857857"/>
            <a:ext cx="2469977" cy="1052139"/>
          </a:xfrm>
          <a:prstGeom prst="rect">
            <a:avLst/>
          </a:prstGeom>
        </p:spPr>
      </p:pic>
      <p:pic>
        <p:nvPicPr>
          <p:cNvPr id="4" name="Picture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6082" y="2909971"/>
            <a:ext cx="2498452" cy="1052769"/>
          </a:xfrm>
          <a:prstGeom prst="rect">
            <a:avLst/>
          </a:prstGeom>
        </p:spPr>
      </p:pic>
      <p:pic>
        <p:nvPicPr>
          <p:cNvPr id="5" name="Picture 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82601" y="3962110"/>
            <a:ext cx="2495582" cy="105156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7"/>
          <p:cNvSpPr txBox="1">
            <a:spLocks noGrp="1"/>
          </p:cNvSpPr>
          <p:nvPr>
            <p:ph type="body" idx="1"/>
          </p:nvPr>
        </p:nvSpPr>
        <p:spPr>
          <a:xfrm>
            <a:off x="311700" y="438800"/>
            <a:ext cx="3999900" cy="4130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Random dot stereogram: Why is the result poor on the left edge and not on the other edges?</a:t>
            </a:r>
            <a:endParaRPr b="1" dirty="0"/>
          </a:p>
          <a:p>
            <a:pPr marL="0" lvl="0" indent="0" algn="l" rtl="0">
              <a:spcBef>
                <a:spcPts val="1600"/>
              </a:spcBef>
              <a:spcAft>
                <a:spcPts val="1600"/>
              </a:spcAft>
              <a:buNone/>
            </a:pPr>
            <a:r>
              <a:rPr lang="en-US" dirty="0" smtClean="0"/>
              <a:t>Since the right image is generated by shifting a center block to left, some patterns in the left image is overridden by the shifted block, thus can never be found again. So there are a lot of noise, especially for smaller window size, on the left. On the other hand, no information is overridden on other edges, so similarity measuring will give some decent results, especially with bigger window size.</a:t>
            </a:r>
            <a:endParaRPr dirty="0"/>
          </a:p>
        </p:txBody>
      </p:sp>
      <p:sp>
        <p:nvSpPr>
          <p:cNvPr id="79" name="Google Shape;79;p17"/>
          <p:cNvSpPr txBox="1">
            <a:spLocks noGrp="1"/>
          </p:cNvSpPr>
          <p:nvPr>
            <p:ph type="body" idx="2"/>
          </p:nvPr>
        </p:nvSpPr>
        <p:spPr>
          <a:xfrm>
            <a:off x="4832400" y="438775"/>
            <a:ext cx="3999900" cy="4130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Convex error profile: Can you generalize the type of regions which will generate convex profiles?</a:t>
            </a:r>
            <a:endParaRPr b="1" dirty="0"/>
          </a:p>
          <a:p>
            <a:pPr marL="0" lvl="0" indent="0">
              <a:spcBef>
                <a:spcPts val="1600"/>
              </a:spcBef>
              <a:spcAft>
                <a:spcPts val="1600"/>
              </a:spcAft>
              <a:buNone/>
            </a:pPr>
            <a:r>
              <a:rPr lang="en-US" dirty="0" smtClean="0"/>
              <a:t>The </a:t>
            </a:r>
            <a:r>
              <a:rPr lang="en-US" dirty="0"/>
              <a:t>regions that is </a:t>
            </a:r>
            <a:r>
              <a:rPr lang="en-US" dirty="0" smtClean="0"/>
              <a:t>unique across the disparity range. For an example below, the pattern in the window only appeared once across the disparity range.</a:t>
            </a:r>
            <a:endParaRPr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33136" y="2736826"/>
            <a:ext cx="1074624" cy="1045124"/>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32400" y="3781950"/>
            <a:ext cx="2995168" cy="1204578"/>
          </a:xfrm>
          <a:prstGeom prst="rect">
            <a:avLst/>
          </a:prstGeom>
        </p:spPr>
      </p:pic>
      <p:sp>
        <p:nvSpPr>
          <p:cNvPr id="4" name="Rectangle 3"/>
          <p:cNvSpPr/>
          <p:nvPr/>
        </p:nvSpPr>
        <p:spPr>
          <a:xfrm>
            <a:off x="5916168" y="3781950"/>
            <a:ext cx="960120" cy="1027794"/>
          </a:xfrm>
          <a:prstGeom prst="rect">
            <a:avLst/>
          </a:prstGeom>
          <a:noFill/>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8"/>
          <p:cNvSpPr txBox="1">
            <a:spLocks noGrp="1"/>
          </p:cNvSpPr>
          <p:nvPr>
            <p:ph type="body" idx="1"/>
          </p:nvPr>
        </p:nvSpPr>
        <p:spPr>
          <a:xfrm>
            <a:off x="311700" y="438800"/>
            <a:ext cx="3999900" cy="4130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b="1" dirty="0"/>
              <a:t>Nonconvex error profile: Can you generalize the type of regions which will generate non-convex profiles?</a:t>
            </a:r>
            <a:endParaRPr b="1" dirty="0"/>
          </a:p>
          <a:p>
            <a:pPr marL="0" lvl="0" indent="0" algn="l" rtl="0">
              <a:spcBef>
                <a:spcPts val="1600"/>
              </a:spcBef>
              <a:spcAft>
                <a:spcPts val="0"/>
              </a:spcAft>
              <a:buClr>
                <a:schemeClr val="dk1"/>
              </a:buClr>
              <a:buSzPts val="1100"/>
              <a:buFont typeface="Arial"/>
              <a:buNone/>
            </a:pPr>
            <a:r>
              <a:rPr lang="en-US" dirty="0" smtClean="0"/>
              <a:t>The regions that is repeated horizontally. For example, in the following window, the strips are repeated horizontally in the disparity range as the red box illustrates, so it will see similar patterns multiple times across the disparity range.</a:t>
            </a:r>
            <a:endParaRPr b="1" dirty="0"/>
          </a:p>
        </p:txBody>
      </p:sp>
      <p:sp>
        <p:nvSpPr>
          <p:cNvPr id="85" name="Google Shape;85;p18"/>
          <p:cNvSpPr txBox="1">
            <a:spLocks noGrp="1"/>
          </p:cNvSpPr>
          <p:nvPr>
            <p:ph type="body" idx="2"/>
          </p:nvPr>
        </p:nvSpPr>
        <p:spPr>
          <a:xfrm>
            <a:off x="4832400" y="438775"/>
            <a:ext cx="3999900" cy="41301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b="1"/>
              <a:t>Disparity map for Set 1 (for 3 patch sizes)</a:t>
            </a:r>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32400" y="754380"/>
            <a:ext cx="3469493" cy="1463040"/>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32398" y="2217420"/>
            <a:ext cx="3469495" cy="1463040"/>
          </a:xfrm>
          <a:prstGeom prst="rect">
            <a:avLst/>
          </a:prstGeom>
        </p:spPr>
      </p:pic>
      <p:pic>
        <p:nvPicPr>
          <p:cNvPr id="4" name="Picture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32398" y="3680460"/>
            <a:ext cx="3469495" cy="1463040"/>
          </a:xfrm>
          <a:prstGeom prst="rect">
            <a:avLst/>
          </a:prstGeom>
        </p:spPr>
      </p:pic>
      <p:pic>
        <p:nvPicPr>
          <p:cNvPr id="5" name="Picture 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82801" y="2906436"/>
            <a:ext cx="975052" cy="948286"/>
          </a:xfrm>
          <a:prstGeom prst="rect">
            <a:avLst/>
          </a:prstGeom>
        </p:spPr>
      </p:pic>
      <p:pic>
        <p:nvPicPr>
          <p:cNvPr id="6" name="Picture 5"/>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29500" y="3854722"/>
            <a:ext cx="3219540" cy="1119840"/>
          </a:xfrm>
          <a:prstGeom prst="rect">
            <a:avLst/>
          </a:prstGeom>
        </p:spPr>
      </p:pic>
      <p:sp>
        <p:nvSpPr>
          <p:cNvPr id="10" name="Rectangle 9"/>
          <p:cNvSpPr/>
          <p:nvPr/>
        </p:nvSpPr>
        <p:spPr>
          <a:xfrm>
            <a:off x="1875653" y="3854722"/>
            <a:ext cx="865558" cy="960120"/>
          </a:xfrm>
          <a:prstGeom prst="rect">
            <a:avLst/>
          </a:prstGeom>
          <a:noFill/>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2" name="Rectangle 11"/>
          <p:cNvSpPr/>
          <p:nvPr/>
        </p:nvSpPr>
        <p:spPr>
          <a:xfrm>
            <a:off x="1333974" y="3854722"/>
            <a:ext cx="865558" cy="960120"/>
          </a:xfrm>
          <a:prstGeom prst="rect">
            <a:avLst/>
          </a:prstGeom>
          <a:noFill/>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9"/>
          <p:cNvSpPr txBox="1">
            <a:spLocks noGrp="1"/>
          </p:cNvSpPr>
          <p:nvPr>
            <p:ph type="body" idx="1"/>
          </p:nvPr>
        </p:nvSpPr>
        <p:spPr>
          <a:xfrm>
            <a:off x="311700" y="438800"/>
            <a:ext cx="3999900" cy="4130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Set 1: Can you think of an explanation as to why the backrest of the chair appears blocky?</a:t>
            </a:r>
            <a:endParaRPr b="1" dirty="0"/>
          </a:p>
          <a:p>
            <a:pPr marL="0" lvl="0" indent="0" algn="l" rtl="0">
              <a:spcBef>
                <a:spcPts val="1600"/>
              </a:spcBef>
              <a:spcAft>
                <a:spcPts val="1600"/>
              </a:spcAft>
              <a:buNone/>
            </a:pPr>
            <a:r>
              <a:rPr lang="en-US" sz="1000" dirty="0" smtClean="0"/>
              <a:t>The change of color appears blocky instead of continues because the backrest is composed of fours pieces wood, and there are distinctive gaps between them. Basically, the color blocks represents the disparity of each gap. Since these gaps are not continuous in the graph but instead discrete, the disparity for them are discrete. There are in total 5 dark gaps (counting both edges), and therefore 5 corresponding color blocks.</a:t>
            </a:r>
            <a:r>
              <a:rPr lang="en-US" sz="1000" dirty="0"/>
              <a:t> </a:t>
            </a:r>
            <a:r>
              <a:rPr lang="en-US" sz="1000" dirty="0" smtClean="0"/>
              <a:t>See the guide lines below, and you can see that the color blocks corresponds to gaps, and has nothing to do with woods.</a:t>
            </a:r>
          </a:p>
        </p:txBody>
      </p:sp>
      <p:sp>
        <p:nvSpPr>
          <p:cNvPr id="91" name="Google Shape;91;p19"/>
          <p:cNvSpPr txBox="1">
            <a:spLocks noGrp="1"/>
          </p:cNvSpPr>
          <p:nvPr>
            <p:ph type="body" idx="2"/>
          </p:nvPr>
        </p:nvSpPr>
        <p:spPr>
          <a:xfrm>
            <a:off x="4832400" y="438775"/>
            <a:ext cx="3999900" cy="4130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Set 4 disparity maps (only one patch size</a:t>
            </a:r>
            <a:r>
              <a:rPr lang="en" b="1" dirty="0" smtClean="0"/>
              <a:t>)</a:t>
            </a:r>
            <a:endParaRPr b="1"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49520" y="1892809"/>
            <a:ext cx="4361398" cy="1839144"/>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1700" y="3293288"/>
            <a:ext cx="3576646" cy="1275587"/>
          </a:xfrm>
          <a:prstGeom prst="rect">
            <a:avLst/>
          </a:prstGeom>
        </p:spPr>
      </p:pic>
      <p:pic>
        <p:nvPicPr>
          <p:cNvPr id="4" name="Picture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49604" y="3001056"/>
            <a:ext cx="3659542" cy="202031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0"/>
          <p:cNvSpPr txBox="1">
            <a:spLocks noGrp="1"/>
          </p:cNvSpPr>
          <p:nvPr>
            <p:ph type="body" idx="1"/>
          </p:nvPr>
        </p:nvSpPr>
        <p:spPr>
          <a:xfrm>
            <a:off x="311700" y="438800"/>
            <a:ext cx="3999900" cy="4130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t>Set 3, 4: peculiar behaviour of the disparity maps near right bowling pin: what do you see in input there and can you explain disparity map there?</a:t>
            </a:r>
            <a:endParaRPr b="1"/>
          </a:p>
          <a:p>
            <a:pPr marL="0" lvl="0" indent="0" algn="l" rtl="0">
              <a:spcBef>
                <a:spcPts val="1600"/>
              </a:spcBef>
              <a:spcAft>
                <a:spcPts val="1600"/>
              </a:spcAft>
              <a:buNone/>
            </a:pPr>
            <a:r>
              <a:rPr lang="en"/>
              <a:t>&lt;Text solution here&gt;</a:t>
            </a:r>
            <a:endParaRPr/>
          </a:p>
        </p:txBody>
      </p:sp>
      <p:sp>
        <p:nvSpPr>
          <p:cNvPr id="97" name="Google Shape;97;p20"/>
          <p:cNvSpPr txBox="1">
            <a:spLocks noGrp="1"/>
          </p:cNvSpPr>
          <p:nvPr>
            <p:ph type="body" idx="2"/>
          </p:nvPr>
        </p:nvSpPr>
        <p:spPr>
          <a:xfrm>
            <a:off x="4832400" y="438775"/>
            <a:ext cx="3999900" cy="4130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Set 3, 4: What was the change between set 3 and set 4? What effect did it have on the disparity? Can you generalize the reasons where disparity calculations wont </a:t>
            </a:r>
            <a:endParaRPr b="1" dirty="0"/>
          </a:p>
          <a:p>
            <a:pPr marL="0" indent="0">
              <a:spcBef>
                <a:spcPts val="1600"/>
              </a:spcBef>
              <a:spcAft>
                <a:spcPts val="1600"/>
              </a:spcAft>
              <a:buNone/>
            </a:pPr>
            <a:r>
              <a:rPr lang="en-US" dirty="0" smtClean="0"/>
              <a:t>Set 4 is more exposed at </a:t>
            </a:r>
            <a:r>
              <a:rPr lang="en-US" dirty="0"/>
              <a:t>the lower </a:t>
            </a:r>
            <a:r>
              <a:rPr lang="en-US" dirty="0" smtClean="0"/>
              <a:t>portion, almost made the “table” part completely white. In set 3, the disparity map has an orange color for the lower for lower part, indicating more disparity, thus less depth for that part. In set 4, since the lower part is all white, the algorithm believes that there is no shifting, so the disparity map shows dark </a:t>
            </a:r>
            <a:r>
              <a:rPr lang="en-US" dirty="0"/>
              <a:t>blue</a:t>
            </a:r>
            <a:r>
              <a:rPr lang="en-US" dirty="0" smtClean="0"/>
              <a:t>.</a:t>
            </a:r>
            <a:r>
              <a:rPr lang="en-US" dirty="0"/>
              <a:t> </a:t>
            </a:r>
            <a:r>
              <a:rPr lang="en-US" dirty="0" smtClean="0"/>
              <a:t>In general, if a photo is over exposed, for some region the intensity is saturated and no information is captured and so no information can be derived.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1"/>
          <p:cNvSpPr txBox="1">
            <a:spLocks noGrp="1"/>
          </p:cNvSpPr>
          <p:nvPr>
            <p:ph type="body" idx="1"/>
          </p:nvPr>
        </p:nvSpPr>
        <p:spPr>
          <a:xfrm>
            <a:off x="311700" y="438800"/>
            <a:ext cx="3999900" cy="4130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t>Set 6: Effect on block size on the stairs in disparity maps</a:t>
            </a:r>
            <a:endParaRPr b="1"/>
          </a:p>
          <a:p>
            <a:pPr marL="0" lvl="0" indent="0" algn="l" rtl="0">
              <a:spcBef>
                <a:spcPts val="1600"/>
              </a:spcBef>
              <a:spcAft>
                <a:spcPts val="1600"/>
              </a:spcAft>
              <a:buNone/>
            </a:pPr>
            <a:r>
              <a:rPr lang="en"/>
              <a:t>&lt;Text solution here&gt;</a:t>
            </a:r>
            <a:endParaRPr/>
          </a:p>
        </p:txBody>
      </p:sp>
      <p:sp>
        <p:nvSpPr>
          <p:cNvPr id="103" name="Google Shape;103;p21"/>
          <p:cNvSpPr txBox="1">
            <a:spLocks noGrp="1"/>
          </p:cNvSpPr>
          <p:nvPr>
            <p:ph type="body" idx="2"/>
          </p:nvPr>
        </p:nvSpPr>
        <p:spPr>
          <a:xfrm>
            <a:off x="4832400" y="438775"/>
            <a:ext cx="3999900" cy="4130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t>Set 6: Gradual shift in disparity values on the wall</a:t>
            </a:r>
            <a:endParaRPr b="1"/>
          </a:p>
          <a:p>
            <a:pPr marL="0" lvl="0" indent="0" algn="l" rtl="0">
              <a:spcBef>
                <a:spcPts val="1600"/>
              </a:spcBef>
              <a:spcAft>
                <a:spcPts val="1600"/>
              </a:spcAft>
              <a:buNone/>
            </a:pPr>
            <a:r>
              <a:rPr lang="en"/>
              <a:t>&lt;Text solution here&gt;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Smoothing</a:t>
            </a:r>
            <a:endParaRPr/>
          </a:p>
        </p:txBody>
      </p:sp>
      <p:sp>
        <p:nvSpPr>
          <p:cNvPr id="109" name="Google Shape;109;p22"/>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p>
            <a:pPr marL="457200" lvl="0" indent="-295275" algn="l" rtl="0">
              <a:spcBef>
                <a:spcPts val="0"/>
              </a:spcBef>
              <a:spcAft>
                <a:spcPts val="0"/>
              </a:spcAft>
              <a:buClr>
                <a:schemeClr val="dk1"/>
              </a:buClr>
              <a:buSzPts val="1050"/>
              <a:buAutoNum type="arabicPeriod"/>
            </a:pPr>
            <a:r>
              <a:rPr lang="en" sz="1050">
                <a:solidFill>
                  <a:schemeClr val="dk1"/>
                </a:solidFill>
                <a:highlight>
                  <a:srgbClr val="FFFFFF"/>
                </a:highlight>
              </a:rPr>
              <a:t>Compare these results on the chair image qualitatively to the output of the chair image without smoothing.</a:t>
            </a:r>
            <a:endParaRPr/>
          </a:p>
        </p:txBody>
      </p:sp>
      <p:sp>
        <p:nvSpPr>
          <p:cNvPr id="110" name="Google Shape;110;p22"/>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t>2. </a:t>
            </a:r>
            <a:r>
              <a:rPr lang="en" sz="1050">
                <a:solidFill>
                  <a:schemeClr val="dk1"/>
                </a:solidFill>
                <a:highlight>
                  <a:srgbClr val="FFFFFF"/>
                </a:highlight>
              </a:rPr>
              <a:t>What regions of the image does smoothing seem to perform better on and why do you think that is?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Smoothing(contd.)</a:t>
            </a:r>
            <a:endParaRPr/>
          </a:p>
        </p:txBody>
      </p:sp>
      <p:sp>
        <p:nvSpPr>
          <p:cNvPr id="116" name="Google Shape;116;p23"/>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t>3. </a:t>
            </a:r>
            <a:r>
              <a:rPr lang="en" sz="1050">
                <a:solidFill>
                  <a:schemeClr val="dk1"/>
                </a:solidFill>
                <a:highlight>
                  <a:srgbClr val="FFFFFF"/>
                </a:highlight>
              </a:rPr>
              <a:t>What regions of the image does smoothing seem to perform worse on and why do you think that is?</a:t>
            </a:r>
            <a:endParaRPr/>
          </a:p>
        </p:txBody>
      </p:sp>
      <p:sp>
        <p:nvSpPr>
          <p:cNvPr id="117" name="Google Shape;117;p23"/>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t>4. </a:t>
            </a:r>
            <a:r>
              <a:rPr lang="en" sz="1050">
                <a:solidFill>
                  <a:schemeClr val="dk1"/>
                </a:solidFill>
                <a:highlight>
                  <a:srgbClr val="FFFFFF"/>
                </a:highlight>
              </a:rPr>
              <a:t>Would smoothing still work for images with both a horizontal and vertical shift?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24"/>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Part 2</a:t>
            </a:r>
            <a:endParaRPr/>
          </a:p>
        </p:txBody>
      </p:sp>
      <p:sp>
        <p:nvSpPr>
          <p:cNvPr id="123" name="Google Shape;123;p24"/>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5"/>
          <p:cNvSpPr txBox="1">
            <a:spLocks noGrp="1"/>
          </p:cNvSpPr>
          <p:nvPr>
            <p:ph type="body" idx="1"/>
          </p:nvPr>
        </p:nvSpPr>
        <p:spPr>
          <a:xfrm>
            <a:off x="311700" y="438800"/>
            <a:ext cx="3999900" cy="4130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b="1" dirty="0"/>
              <a:t>Copy the output of print(</a:t>
            </a:r>
            <a:r>
              <a:rPr lang="en" b="1" dirty="0" err="1"/>
              <a:t>net_tr</a:t>
            </a:r>
            <a:r>
              <a:rPr lang="en" b="1" dirty="0"/>
              <a:t>) from the notebook here. You can use screenshot instead of text if that’s easier.</a:t>
            </a:r>
            <a:endParaRPr b="1" dirty="0"/>
          </a:p>
          <a:p>
            <a:pPr marL="0" lvl="0" indent="0" algn="l" rtl="0">
              <a:spcBef>
                <a:spcPts val="1600"/>
              </a:spcBef>
              <a:spcAft>
                <a:spcPts val="1600"/>
              </a:spcAft>
              <a:buNone/>
            </a:pPr>
            <a:endParaRPr dirty="0"/>
          </a:p>
        </p:txBody>
      </p:sp>
      <p:sp>
        <p:nvSpPr>
          <p:cNvPr id="129" name="Google Shape;129;p25"/>
          <p:cNvSpPr txBox="1">
            <a:spLocks noGrp="1"/>
          </p:cNvSpPr>
          <p:nvPr>
            <p:ph type="body" idx="2"/>
          </p:nvPr>
        </p:nvSpPr>
        <p:spPr>
          <a:xfrm>
            <a:off x="4832400" y="438775"/>
            <a:ext cx="3999900" cy="4130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b="1" dirty="0"/>
              <a:t>What's the purpose of </a:t>
            </a:r>
            <a:r>
              <a:rPr lang="en" b="1" dirty="0" err="1"/>
              <a:t>ReLU</a:t>
            </a:r>
            <a:r>
              <a:rPr lang="en" b="1" dirty="0"/>
              <a:t> and why do we add it after every conv and fc layers?</a:t>
            </a:r>
            <a:endParaRPr b="1" dirty="0"/>
          </a:p>
          <a:p>
            <a:pPr marL="0" indent="0">
              <a:spcBef>
                <a:spcPts val="1600"/>
              </a:spcBef>
              <a:buClr>
                <a:schemeClr val="dk1"/>
              </a:buClr>
              <a:buSzPts val="1100"/>
              <a:buNone/>
            </a:pPr>
            <a:r>
              <a:rPr lang="en-US" dirty="0" err="1" smtClean="0"/>
              <a:t>ReLU</a:t>
            </a:r>
            <a:r>
              <a:rPr lang="en-US" dirty="0" smtClean="0"/>
              <a:t> stands for </a:t>
            </a:r>
            <a:r>
              <a:rPr lang="en-US" dirty="0"/>
              <a:t>Rectified Linear Unit (</a:t>
            </a:r>
            <a:r>
              <a:rPr lang="en-US" dirty="0" err="1"/>
              <a:t>ReLU</a:t>
            </a:r>
            <a:r>
              <a:rPr lang="en-US" dirty="0" smtClean="0"/>
              <a:t>). It is an activation function that transforms a summed weighted input into the activation out. Specifically for </a:t>
            </a:r>
            <a:r>
              <a:rPr lang="en-US" dirty="0" err="1" smtClean="0"/>
              <a:t>ReLU</a:t>
            </a:r>
            <a:r>
              <a:rPr lang="en-US" dirty="0" smtClean="0"/>
              <a:t>, if input &gt; 0, output == input; else, output == 0. It introduces non-linearity to the network.</a:t>
            </a:r>
            <a:endParaRPr lang="en-US" dirty="0"/>
          </a:p>
          <a:p>
            <a:pPr marL="0" lvl="0" indent="0" algn="l" rtl="0">
              <a:spcBef>
                <a:spcPts val="1600"/>
              </a:spcBef>
              <a:spcAft>
                <a:spcPts val="0"/>
              </a:spcAft>
              <a:buClr>
                <a:schemeClr val="dk1"/>
              </a:buClr>
              <a:buSzPts val="1100"/>
              <a:buFont typeface="Arial"/>
              <a:buNone/>
            </a:pPr>
            <a:endParaRPr dirty="0" smtClean="0"/>
          </a:p>
          <a:p>
            <a:pPr marL="0" lvl="0" indent="0" algn="l" rtl="0">
              <a:spcBef>
                <a:spcPts val="1600"/>
              </a:spcBef>
              <a:spcAft>
                <a:spcPts val="0"/>
              </a:spcAft>
              <a:buClr>
                <a:schemeClr val="dk1"/>
              </a:buClr>
              <a:buSzPts val="1100"/>
              <a:buFont typeface="Arial"/>
              <a:buNone/>
            </a:pPr>
            <a:endParaRPr dirty="0"/>
          </a:p>
          <a:p>
            <a:pPr marL="0" lvl="0" indent="0" algn="l" rtl="0">
              <a:spcBef>
                <a:spcPts val="1600"/>
              </a:spcBef>
              <a:spcAft>
                <a:spcPts val="1600"/>
              </a:spcAft>
              <a:buNone/>
            </a:pPr>
            <a:endParaRPr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1700" y="1847984"/>
            <a:ext cx="3723814" cy="20558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6"/>
          <p:cNvSpPr txBox="1">
            <a:spLocks noGrp="1"/>
          </p:cNvSpPr>
          <p:nvPr>
            <p:ph type="body" idx="1"/>
          </p:nvPr>
        </p:nvSpPr>
        <p:spPr>
          <a:xfrm>
            <a:off x="311700" y="438800"/>
            <a:ext cx="3999900" cy="4130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b="1" dirty="0"/>
              <a:t>Show the patch example from your </a:t>
            </a:r>
            <a:r>
              <a:rPr lang="en" b="1" dirty="0" err="1"/>
              <a:t>gen_patch</a:t>
            </a:r>
            <a:r>
              <a:rPr lang="en" b="1" dirty="0"/>
              <a:t> function.</a:t>
            </a:r>
            <a:endParaRPr b="1" dirty="0"/>
          </a:p>
          <a:p>
            <a:pPr marL="0" lvl="0" indent="0" algn="l" rtl="0">
              <a:spcBef>
                <a:spcPts val="1600"/>
              </a:spcBef>
              <a:spcAft>
                <a:spcPts val="0"/>
              </a:spcAft>
              <a:buClr>
                <a:schemeClr val="dk1"/>
              </a:buClr>
              <a:buSzPts val="1100"/>
              <a:buFont typeface="Arial"/>
              <a:buNone/>
            </a:pPr>
            <a:endParaRPr dirty="0"/>
          </a:p>
          <a:p>
            <a:pPr marL="0" lvl="0" indent="0" algn="l" rtl="0">
              <a:spcBef>
                <a:spcPts val="1600"/>
              </a:spcBef>
              <a:spcAft>
                <a:spcPts val="0"/>
              </a:spcAft>
              <a:buClr>
                <a:schemeClr val="dk1"/>
              </a:buClr>
              <a:buSzPts val="1100"/>
              <a:buFont typeface="Arial"/>
              <a:buNone/>
            </a:pPr>
            <a:endParaRPr dirty="0"/>
          </a:p>
          <a:p>
            <a:pPr marL="0" lvl="0" indent="0" algn="l" rtl="0">
              <a:spcBef>
                <a:spcPts val="1600"/>
              </a:spcBef>
              <a:spcAft>
                <a:spcPts val="1600"/>
              </a:spcAft>
              <a:buNone/>
            </a:pPr>
            <a:endParaRPr b="1" dirty="0"/>
          </a:p>
        </p:txBody>
      </p:sp>
      <p:sp>
        <p:nvSpPr>
          <p:cNvPr id="135" name="Google Shape;135;p26"/>
          <p:cNvSpPr txBox="1">
            <a:spLocks noGrp="1"/>
          </p:cNvSpPr>
          <p:nvPr>
            <p:ph type="body" idx="2"/>
          </p:nvPr>
        </p:nvSpPr>
        <p:spPr>
          <a:xfrm>
            <a:off x="4832400" y="438775"/>
            <a:ext cx="3999900" cy="4130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Giving a true disparity map for each stereo pair, how do we extract positive and negative patches for the training?</a:t>
            </a:r>
            <a:endParaRPr b="1" dirty="0"/>
          </a:p>
          <a:p>
            <a:pPr marL="0" lvl="0" indent="0">
              <a:spcBef>
                <a:spcPts val="1600"/>
              </a:spcBef>
              <a:buNone/>
            </a:pPr>
            <a:r>
              <a:rPr lang="en-US" dirty="0" smtClean="0"/>
              <a:t>Foe positive patches, we query the true disparity map to get the ground </a:t>
            </a:r>
            <a:r>
              <a:rPr lang="en-US" dirty="0"/>
              <a:t>truth coordinate e.g. </a:t>
            </a:r>
            <a:r>
              <a:rPr lang="en-US" dirty="0" err="1"/>
              <a:t>img</a:t>
            </a:r>
            <a:r>
              <a:rPr lang="en-US" dirty="0"/>
              <a:t>, dim3, dim4, d = </a:t>
            </a:r>
            <a:r>
              <a:rPr lang="en-US" dirty="0" err="1"/>
              <a:t>get_disparity</a:t>
            </a:r>
            <a:r>
              <a:rPr lang="en-US" dirty="0"/>
              <a:t>(</a:t>
            </a:r>
            <a:r>
              <a:rPr lang="en-US" dirty="0" err="1"/>
              <a:t>nnz,ind</a:t>
            </a:r>
            <a:r>
              <a:rPr lang="en-US" dirty="0"/>
              <a:t>) and </a:t>
            </a:r>
            <a:r>
              <a:rPr lang="en-US" dirty="0" err="1"/>
              <a:t>pos</a:t>
            </a:r>
            <a:r>
              <a:rPr lang="en-US" dirty="0"/>
              <a:t> = </a:t>
            </a:r>
            <a:r>
              <a:rPr lang="en-US" dirty="0" err="1"/>
              <a:t>gen_patch</a:t>
            </a:r>
            <a:r>
              <a:rPr lang="en-US" dirty="0"/>
              <a:t>(x1, dim3, dim4 - d + </a:t>
            </a:r>
            <a:r>
              <a:rPr lang="en-US" dirty="0" err="1"/>
              <a:t>d_pos</a:t>
            </a:r>
            <a:r>
              <a:rPr lang="en-US" dirty="0" smtClean="0"/>
              <a:t>). In this case </a:t>
            </a:r>
            <a:r>
              <a:rPr lang="en-US" dirty="0" err="1" smtClean="0"/>
              <a:t>d_pos</a:t>
            </a:r>
            <a:r>
              <a:rPr lang="en-US" dirty="0" smtClean="0"/>
              <a:t> is 0 because we don’t want to offset it. We need to exactly right coordinate.</a:t>
            </a:r>
            <a:endParaRPr lang="en-US" dirty="0"/>
          </a:p>
          <a:p>
            <a:pPr marL="0" lvl="0" indent="0">
              <a:spcBef>
                <a:spcPts val="1600"/>
              </a:spcBef>
              <a:buNone/>
            </a:pPr>
            <a:r>
              <a:rPr lang="en-US" dirty="0" smtClean="0"/>
              <a:t>For negative patches, we add a random offset for each negative patch to get an incorrect patch as a negative patch e.g. </a:t>
            </a:r>
            <a:r>
              <a:rPr lang="en-US" dirty="0" err="1" smtClean="0"/>
              <a:t>d_neg</a:t>
            </a:r>
            <a:r>
              <a:rPr lang="en-US" dirty="0" smtClean="0"/>
              <a:t> = </a:t>
            </a:r>
            <a:r>
              <a:rPr lang="en-US" dirty="0" err="1" smtClean="0"/>
              <a:t>torch.Tensor</a:t>
            </a:r>
            <a:r>
              <a:rPr lang="en-US" dirty="0" smtClean="0"/>
              <a:t>(1</a:t>
            </a:r>
            <a:r>
              <a:rPr lang="en-US" dirty="0"/>
              <a:t>).uniform_(5,25) and </a:t>
            </a:r>
            <a:r>
              <a:rPr lang="en-US" dirty="0" err="1"/>
              <a:t>gen_patch</a:t>
            </a:r>
            <a:r>
              <a:rPr lang="en-US" dirty="0"/>
              <a:t>(x1, dim3, dim4 - d + </a:t>
            </a:r>
            <a:r>
              <a:rPr lang="en-US" dirty="0" err="1"/>
              <a:t>d_neg</a:t>
            </a:r>
            <a:r>
              <a:rPr lang="en-US" dirty="0"/>
              <a:t>)</a:t>
            </a:r>
            <a:endParaRPr dirty="0"/>
          </a:p>
          <a:p>
            <a:pPr marL="0" lvl="0" indent="0" algn="l" rtl="0">
              <a:spcBef>
                <a:spcPts val="1600"/>
              </a:spcBef>
              <a:spcAft>
                <a:spcPts val="0"/>
              </a:spcAft>
              <a:buNone/>
            </a:pPr>
            <a:endParaRPr dirty="0"/>
          </a:p>
          <a:p>
            <a:pPr marL="0" lvl="0" indent="0" algn="l" rtl="0">
              <a:spcBef>
                <a:spcPts val="1600"/>
              </a:spcBef>
              <a:spcAft>
                <a:spcPts val="1600"/>
              </a:spcAft>
              <a:buNone/>
            </a:pPr>
            <a:endParaRPr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1700" y="1886350"/>
            <a:ext cx="3776921" cy="143447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7"/>
          <p:cNvSpPr txBox="1">
            <a:spLocks noGrp="1"/>
          </p:cNvSpPr>
          <p:nvPr>
            <p:ph type="body" idx="1"/>
          </p:nvPr>
        </p:nvSpPr>
        <p:spPr>
          <a:xfrm>
            <a:off x="303155" y="455878"/>
            <a:ext cx="3999900" cy="4130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Copy the training loss plot and the final average validation loss of your best network</a:t>
            </a:r>
            <a:endParaRPr b="1" dirty="0"/>
          </a:p>
          <a:p>
            <a:pPr marL="0" lvl="0" indent="0" algn="l" rtl="0">
              <a:spcBef>
                <a:spcPts val="1600"/>
              </a:spcBef>
              <a:spcAft>
                <a:spcPts val="0"/>
              </a:spcAft>
              <a:buNone/>
            </a:pPr>
            <a:endParaRPr dirty="0"/>
          </a:p>
          <a:p>
            <a:pPr marL="0" lvl="0" indent="0" algn="l" rtl="0">
              <a:spcBef>
                <a:spcPts val="1600"/>
              </a:spcBef>
              <a:spcAft>
                <a:spcPts val="0"/>
              </a:spcAft>
              <a:buNone/>
            </a:pPr>
            <a:endParaRPr dirty="0"/>
          </a:p>
          <a:p>
            <a:pPr marL="0" lvl="0" indent="0" algn="l" rtl="0">
              <a:spcBef>
                <a:spcPts val="1600"/>
              </a:spcBef>
              <a:spcAft>
                <a:spcPts val="1600"/>
              </a:spcAft>
              <a:buNone/>
            </a:pPr>
            <a:endParaRPr b="1" dirty="0"/>
          </a:p>
        </p:txBody>
      </p:sp>
      <p:sp>
        <p:nvSpPr>
          <p:cNvPr id="141" name="Google Shape;141;p27"/>
          <p:cNvSpPr txBox="1">
            <a:spLocks noGrp="1"/>
          </p:cNvSpPr>
          <p:nvPr>
            <p:ph type="body" idx="2"/>
          </p:nvPr>
        </p:nvSpPr>
        <p:spPr>
          <a:xfrm>
            <a:off x="4832400" y="438775"/>
            <a:ext cx="3999900" cy="4130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How does changing learning rate (try using large (&gt; 1) vs small value (&lt; 1e-5)) effect the training? Why?</a:t>
            </a:r>
            <a:endParaRPr b="1" dirty="0"/>
          </a:p>
          <a:p>
            <a:pPr marL="0" lvl="0" indent="0" algn="l" rtl="0">
              <a:spcBef>
                <a:spcPts val="1600"/>
              </a:spcBef>
              <a:spcAft>
                <a:spcPts val="0"/>
              </a:spcAft>
              <a:buNone/>
            </a:pPr>
            <a:r>
              <a:rPr lang="en-US" sz="1100" dirty="0" smtClean="0"/>
              <a:t>A very large learning rate will make the loss fail to converge to an optimal. As the left images shows, with a learning rate of 3, the loss shoots up to 7 after a few run. &lt; </a:t>
            </a:r>
            <a:r>
              <a:rPr lang="en-US" sz="1100" dirty="0" smtClean="0"/>
              <a:t>1e-5 super </a:t>
            </a:r>
            <a:r>
              <a:rPr lang="en-US" sz="1100" dirty="0" smtClean="0"/>
              <a:t>slow. If the learning rate is too small, it takes way more time to make the loss converge. As we can see from the right image with a learning rate of 1e-6, the loss </a:t>
            </a:r>
            <a:r>
              <a:rPr lang="en-US" sz="1100" dirty="0" smtClean="0"/>
              <a:t>is still dropping at epoch 600, meaning the loss has not converged yet. But on the other hand, a smaller learning rate is more likely to give us a more optimal.</a:t>
            </a:r>
            <a:endParaRPr dirty="0"/>
          </a:p>
          <a:p>
            <a:pPr marL="0" lvl="0" indent="0" algn="l" rtl="0">
              <a:spcBef>
                <a:spcPts val="1600"/>
              </a:spcBef>
              <a:spcAft>
                <a:spcPts val="0"/>
              </a:spcAft>
              <a:buNone/>
            </a:pPr>
            <a:endParaRPr dirty="0"/>
          </a:p>
          <a:p>
            <a:pPr marL="0" lvl="0" indent="0" algn="l" rtl="0">
              <a:spcBef>
                <a:spcPts val="1600"/>
              </a:spcBef>
              <a:spcAft>
                <a:spcPts val="1600"/>
              </a:spcAft>
              <a:buNone/>
            </a:pPr>
            <a:endParaRPr dirty="0"/>
          </a:p>
        </p:txBody>
      </p:sp>
      <p:sp>
        <p:nvSpPr>
          <p:cNvPr id="4" name="TextBox 3"/>
          <p:cNvSpPr txBox="1"/>
          <p:nvPr/>
        </p:nvSpPr>
        <p:spPr>
          <a:xfrm>
            <a:off x="1270940" y="4009753"/>
            <a:ext cx="1887055" cy="307777"/>
          </a:xfrm>
          <a:prstGeom prst="rect">
            <a:avLst/>
          </a:prstGeom>
          <a:noFill/>
        </p:spPr>
        <p:txBody>
          <a:bodyPr wrap="none" rtlCol="0">
            <a:spAutoFit/>
          </a:bodyPr>
          <a:lstStyle/>
          <a:p>
            <a:r>
              <a:rPr lang="en-US" dirty="0" smtClean="0"/>
              <a:t>Validation </a:t>
            </a:r>
            <a:r>
              <a:rPr lang="en-US" dirty="0" smtClean="0"/>
              <a:t>loss: </a:t>
            </a:r>
            <a:r>
              <a:rPr lang="en-US" dirty="0" smtClean="0"/>
              <a:t>0.202</a:t>
            </a:r>
            <a:endParaRPr lang="en-US"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8051" y="1643130"/>
            <a:ext cx="3443593" cy="2295728"/>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89436" y="3343579"/>
            <a:ext cx="1842864" cy="1228576"/>
          </a:xfrm>
          <a:prstGeom prst="rect">
            <a:avLst/>
          </a:prstGeom>
        </p:spPr>
      </p:pic>
      <p:sp>
        <p:nvSpPr>
          <p:cNvPr id="9" name="TextBox 8"/>
          <p:cNvSpPr txBox="1"/>
          <p:nvPr/>
        </p:nvSpPr>
        <p:spPr>
          <a:xfrm>
            <a:off x="7043028" y="4585978"/>
            <a:ext cx="1789272" cy="307777"/>
          </a:xfrm>
          <a:prstGeom prst="rect">
            <a:avLst/>
          </a:prstGeom>
          <a:noFill/>
        </p:spPr>
        <p:txBody>
          <a:bodyPr wrap="none" rtlCol="0">
            <a:spAutoFit/>
          </a:bodyPr>
          <a:lstStyle/>
          <a:p>
            <a:r>
              <a:rPr lang="en-US" dirty="0" smtClean="0"/>
              <a:t>l</a:t>
            </a:r>
            <a:r>
              <a:rPr lang="en-US" dirty="0" smtClean="0"/>
              <a:t>earning_rate = 1e-6</a:t>
            </a:r>
          </a:p>
        </p:txBody>
      </p:sp>
      <p:pic>
        <p:nvPicPr>
          <p:cNvPr id="7"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32400" y="3343579"/>
            <a:ext cx="1788537" cy="1225296"/>
          </a:xfrm>
          <a:prstGeom prst="rect">
            <a:avLst/>
          </a:prstGeom>
        </p:spPr>
      </p:pic>
      <p:sp>
        <p:nvSpPr>
          <p:cNvPr id="11" name="TextBox 10"/>
          <p:cNvSpPr txBox="1"/>
          <p:nvPr/>
        </p:nvSpPr>
        <p:spPr>
          <a:xfrm>
            <a:off x="4831665" y="4594529"/>
            <a:ext cx="1531188" cy="307777"/>
          </a:xfrm>
          <a:prstGeom prst="rect">
            <a:avLst/>
          </a:prstGeom>
          <a:noFill/>
        </p:spPr>
        <p:txBody>
          <a:bodyPr wrap="none" rtlCol="0">
            <a:spAutoFit/>
          </a:bodyPr>
          <a:lstStyle/>
          <a:p>
            <a:r>
              <a:rPr lang="en-US" dirty="0" smtClean="0"/>
              <a:t>l</a:t>
            </a:r>
            <a:r>
              <a:rPr lang="en-US" dirty="0" smtClean="0"/>
              <a:t>earning_rate = 3</a:t>
            </a:r>
          </a:p>
        </p:txBody>
      </p:sp>
      <p:sp>
        <p:nvSpPr>
          <p:cNvPr id="13" name="Rectangle 12"/>
          <p:cNvSpPr/>
          <p:nvPr/>
        </p:nvSpPr>
        <p:spPr>
          <a:xfrm>
            <a:off x="260400" y="4731145"/>
            <a:ext cx="4572000" cy="276999"/>
          </a:xfrm>
          <a:prstGeom prst="rect">
            <a:avLst/>
          </a:prstGeom>
        </p:spPr>
        <p:txBody>
          <a:bodyPr>
            <a:spAutoFit/>
          </a:bodyPr>
          <a:lstStyle/>
          <a:p>
            <a:r>
              <a:rPr lang="en-US" sz="1200" dirty="0" smtClean="0">
                <a:solidFill>
                  <a:schemeClr val="tx2">
                    <a:lumMod val="75000"/>
                  </a:schemeClr>
                </a:solidFill>
              </a:rPr>
              <a:t>(max_epoch </a:t>
            </a:r>
            <a:r>
              <a:rPr lang="en-US" sz="1200" dirty="0">
                <a:solidFill>
                  <a:schemeClr val="tx2">
                    <a:lumMod val="75000"/>
                  </a:schemeClr>
                </a:solidFill>
              </a:rPr>
              <a:t>= </a:t>
            </a:r>
            <a:r>
              <a:rPr lang="en-US" sz="1200" dirty="0" smtClean="0">
                <a:solidFill>
                  <a:schemeClr val="tx2">
                    <a:lumMod val="75000"/>
                  </a:schemeClr>
                </a:solidFill>
              </a:rPr>
              <a:t>200, learning_rate </a:t>
            </a:r>
            <a:r>
              <a:rPr lang="en-US" sz="1200" dirty="0">
                <a:solidFill>
                  <a:schemeClr val="tx2">
                    <a:lumMod val="75000"/>
                  </a:schemeClr>
                </a:solidFill>
              </a:rPr>
              <a:t>= </a:t>
            </a:r>
            <a:r>
              <a:rPr lang="en-US" sz="1200" dirty="0" smtClean="0">
                <a:solidFill>
                  <a:schemeClr val="tx2">
                    <a:lumMod val="75000"/>
                  </a:schemeClr>
                </a:solidFill>
              </a:rPr>
              <a:t>0.00005)</a:t>
            </a:r>
            <a:endParaRPr lang="en-US" sz="1200" dirty="0">
              <a:solidFill>
                <a:schemeClr val="tx2">
                  <a:lumMod val="75000"/>
                </a:schemeClr>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8"/>
          <p:cNvSpPr txBox="1">
            <a:spLocks noGrp="1"/>
          </p:cNvSpPr>
          <p:nvPr>
            <p:ph type="body" idx="1"/>
          </p:nvPr>
        </p:nvSpPr>
        <p:spPr>
          <a:xfrm>
            <a:off x="311700" y="438800"/>
            <a:ext cx="3999900" cy="255222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What's the difference between Adam and SGD? What do you notice when switching between them?</a:t>
            </a:r>
            <a:endParaRPr b="1" dirty="0"/>
          </a:p>
          <a:p>
            <a:pPr marL="0" lvl="0" indent="0">
              <a:spcBef>
                <a:spcPts val="1600"/>
              </a:spcBef>
              <a:buNone/>
            </a:pPr>
            <a:r>
              <a:rPr lang="en-US" sz="1100" dirty="0"/>
              <a:t>SGD </a:t>
            </a:r>
            <a:r>
              <a:rPr lang="en-US" sz="1100" dirty="0" smtClean="0"/>
              <a:t>(</a:t>
            </a:r>
            <a:r>
              <a:rPr lang="en-US" sz="1100" dirty="0"/>
              <a:t>Stochastic Gradient Descent</a:t>
            </a:r>
            <a:r>
              <a:rPr lang="en-US" sz="1100" dirty="0" smtClean="0"/>
              <a:t>) uses a constant learning rate throughout training. Adam (</a:t>
            </a:r>
            <a:r>
              <a:rPr lang="en-US" sz="1100" dirty="0"/>
              <a:t>Adaptive Moment Estimation</a:t>
            </a:r>
            <a:r>
              <a:rPr lang="en-US" sz="1100" dirty="0" smtClean="0"/>
              <a:t>) implements adaptive learning rate. It also selects different learning rate for different parameters. From the two images, it’s obvious that Adam makes loss converges faster than SGD (around epoch 25 vs around epoch 50). Also, Adam give a better validation result than SGD (0.202 &lt; 0.290)</a:t>
            </a:r>
          </a:p>
          <a:p>
            <a:pPr marL="0" lvl="0" indent="0">
              <a:spcBef>
                <a:spcPts val="1600"/>
              </a:spcBef>
              <a:buNone/>
            </a:pPr>
            <a:endParaRPr lang="en-US" sz="1100" dirty="0" smtClean="0"/>
          </a:p>
          <a:p>
            <a:pPr marL="0" lvl="0" indent="0">
              <a:spcBef>
                <a:spcPts val="1600"/>
              </a:spcBef>
              <a:buNone/>
            </a:pPr>
            <a:endParaRPr lang="en-US" sz="1100" dirty="0"/>
          </a:p>
          <a:p>
            <a:pPr marL="0" lvl="0" indent="0">
              <a:spcBef>
                <a:spcPts val="1600"/>
              </a:spcBef>
              <a:buNone/>
            </a:pPr>
            <a:endParaRPr lang="en-US" sz="1100" dirty="0" smtClean="0"/>
          </a:p>
          <a:p>
            <a:endParaRPr lang="en-US" sz="1100" dirty="0"/>
          </a:p>
          <a:p>
            <a:pPr marL="139700" indent="0">
              <a:buNone/>
            </a:pPr>
            <a:endParaRPr lang="en-US" sz="1100" dirty="0" smtClean="0">
              <a:solidFill>
                <a:schemeClr val="tx2">
                  <a:lumMod val="75000"/>
                </a:schemeClr>
              </a:solidFill>
            </a:endParaRPr>
          </a:p>
          <a:p>
            <a:pPr marL="139700" indent="0">
              <a:buNone/>
            </a:pPr>
            <a:endParaRPr lang="en-US" sz="1100" dirty="0">
              <a:solidFill>
                <a:schemeClr val="tx2">
                  <a:lumMod val="75000"/>
                </a:schemeClr>
              </a:solidFill>
            </a:endParaRPr>
          </a:p>
          <a:p>
            <a:pPr marL="0" lvl="0" indent="0" algn="l" rtl="0">
              <a:spcBef>
                <a:spcPts val="1600"/>
              </a:spcBef>
              <a:spcAft>
                <a:spcPts val="1600"/>
              </a:spcAft>
              <a:buNone/>
            </a:pPr>
            <a:endParaRPr b="1" dirty="0"/>
          </a:p>
        </p:txBody>
      </p:sp>
      <p:sp>
        <p:nvSpPr>
          <p:cNvPr id="147" name="Google Shape;147;p28"/>
          <p:cNvSpPr txBox="1">
            <a:spLocks noGrp="1"/>
          </p:cNvSpPr>
          <p:nvPr>
            <p:ph type="body" idx="2"/>
          </p:nvPr>
        </p:nvSpPr>
        <p:spPr>
          <a:xfrm>
            <a:off x="4832400" y="438775"/>
            <a:ext cx="3999900" cy="4130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Is your validation loss lower or higher than your training loss? What is the reason for that? How would we get a better validation loss?</a:t>
            </a:r>
            <a:endParaRPr b="1" dirty="0"/>
          </a:p>
          <a:p>
            <a:pPr marL="0" lvl="0" indent="0" algn="l" rtl="0">
              <a:spcBef>
                <a:spcPts val="1600"/>
              </a:spcBef>
              <a:spcAft>
                <a:spcPts val="0"/>
              </a:spcAft>
              <a:buNone/>
            </a:pPr>
            <a:r>
              <a:rPr lang="en-US" sz="1100" dirty="0" smtClean="0"/>
              <a:t>Validation loss is higher than training loss. Generally validation loss will be higher than training loss since in the training process the neuron network is learning and optimizing the weights from the training set. However, at validation stage, a validation set is used. The model has never seen the data in this set, thus more likely it is going to perform worst. A way to to lower validation loss is to prevent overfitting in the model. The most intuitive way is to stop overfitting is “early stopping”. We can plot the time vs loss graph for both training and validation loss, and stop the training when validation starts to increase because after this point overfitting happens. Other ways to prevent overfitting are dropping connections between layers randomly, reduce layers, reduce neurons etc.</a:t>
            </a:r>
            <a:endParaRPr dirty="0"/>
          </a:p>
          <a:p>
            <a:pPr marL="0" lvl="0" indent="0" algn="l" rtl="0">
              <a:spcBef>
                <a:spcPts val="1600"/>
              </a:spcBef>
              <a:spcAft>
                <a:spcPts val="1600"/>
              </a:spcAft>
              <a:buNone/>
            </a:pPr>
            <a:endParaRPr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1700" y="3255947"/>
            <a:ext cx="1508760" cy="1005840"/>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41260" y="3255947"/>
            <a:ext cx="1533095" cy="1005840"/>
          </a:xfrm>
          <a:prstGeom prst="rect">
            <a:avLst/>
          </a:prstGeom>
        </p:spPr>
      </p:pic>
      <p:sp>
        <p:nvSpPr>
          <p:cNvPr id="6" name="TextBox 5"/>
          <p:cNvSpPr txBox="1"/>
          <p:nvPr/>
        </p:nvSpPr>
        <p:spPr>
          <a:xfrm>
            <a:off x="739708" y="4266569"/>
            <a:ext cx="652743" cy="307777"/>
          </a:xfrm>
          <a:prstGeom prst="rect">
            <a:avLst/>
          </a:prstGeom>
          <a:noFill/>
        </p:spPr>
        <p:txBody>
          <a:bodyPr wrap="none" rtlCol="0">
            <a:spAutoFit/>
          </a:bodyPr>
          <a:lstStyle/>
          <a:p>
            <a:r>
              <a:rPr lang="en-US" dirty="0" smtClean="0"/>
              <a:t>Adam</a:t>
            </a:r>
            <a:endParaRPr lang="en-US" dirty="0" smtClean="0"/>
          </a:p>
        </p:txBody>
      </p:sp>
      <p:sp>
        <p:nvSpPr>
          <p:cNvPr id="7" name="TextBox 6"/>
          <p:cNvSpPr txBox="1"/>
          <p:nvPr/>
        </p:nvSpPr>
        <p:spPr>
          <a:xfrm>
            <a:off x="2825327" y="4263846"/>
            <a:ext cx="574196" cy="307777"/>
          </a:xfrm>
          <a:prstGeom prst="rect">
            <a:avLst/>
          </a:prstGeom>
          <a:noFill/>
        </p:spPr>
        <p:txBody>
          <a:bodyPr wrap="none" rtlCol="0">
            <a:spAutoFit/>
          </a:bodyPr>
          <a:lstStyle/>
          <a:p>
            <a:r>
              <a:rPr lang="en-US" dirty="0" smtClean="0"/>
              <a:t>SGD</a:t>
            </a:r>
            <a:endParaRPr lang="en-US" dirty="0" smtClean="0"/>
          </a:p>
        </p:txBody>
      </p:sp>
      <p:sp>
        <p:nvSpPr>
          <p:cNvPr id="8" name="Rectangle 7"/>
          <p:cNvSpPr/>
          <p:nvPr/>
        </p:nvSpPr>
        <p:spPr>
          <a:xfrm>
            <a:off x="260400" y="4731145"/>
            <a:ext cx="3439929" cy="276999"/>
          </a:xfrm>
          <a:prstGeom prst="rect">
            <a:avLst/>
          </a:prstGeom>
        </p:spPr>
        <p:txBody>
          <a:bodyPr wrap="square">
            <a:spAutoFit/>
          </a:bodyPr>
          <a:lstStyle/>
          <a:p>
            <a:r>
              <a:rPr lang="en-US" sz="1200" dirty="0" smtClean="0">
                <a:solidFill>
                  <a:schemeClr val="tx2">
                    <a:lumMod val="75000"/>
                  </a:schemeClr>
                </a:solidFill>
              </a:rPr>
              <a:t>(max_epoch </a:t>
            </a:r>
            <a:r>
              <a:rPr lang="en-US" sz="1200" dirty="0">
                <a:solidFill>
                  <a:schemeClr val="tx2">
                    <a:lumMod val="75000"/>
                  </a:schemeClr>
                </a:solidFill>
              </a:rPr>
              <a:t>= </a:t>
            </a:r>
            <a:r>
              <a:rPr lang="en-US" sz="1200" dirty="0" smtClean="0">
                <a:solidFill>
                  <a:schemeClr val="tx2">
                    <a:lumMod val="75000"/>
                  </a:schemeClr>
                </a:solidFill>
              </a:rPr>
              <a:t>200, learning_rate </a:t>
            </a:r>
            <a:r>
              <a:rPr lang="en-US" sz="1200" dirty="0">
                <a:solidFill>
                  <a:schemeClr val="tx2">
                    <a:lumMod val="75000"/>
                  </a:schemeClr>
                </a:solidFill>
              </a:rPr>
              <a:t>= </a:t>
            </a:r>
            <a:r>
              <a:rPr lang="en-US" sz="1200" dirty="0" smtClean="0">
                <a:solidFill>
                  <a:schemeClr val="tx2">
                    <a:lumMod val="75000"/>
                  </a:schemeClr>
                </a:solidFill>
              </a:rPr>
              <a:t>0.00005)</a:t>
            </a:r>
            <a:endParaRPr lang="en-US" sz="1200" dirty="0">
              <a:solidFill>
                <a:schemeClr val="tx2">
                  <a:lumMod val="75000"/>
                </a:schemeClr>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9"/>
          <p:cNvSpPr txBox="1">
            <a:spLocks noGrp="1"/>
          </p:cNvSpPr>
          <p:nvPr>
            <p:ph type="body" idx="1"/>
          </p:nvPr>
        </p:nvSpPr>
        <p:spPr>
          <a:xfrm>
            <a:off x="311700" y="438800"/>
            <a:ext cx="3999900" cy="104816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Copy the training loss plot and the final average validation loss of the networks with different window sizes</a:t>
            </a:r>
            <a:endParaRPr b="1" dirty="0"/>
          </a:p>
          <a:p>
            <a:pPr marL="0" lvl="0" indent="0" algn="l" rtl="0">
              <a:spcBef>
                <a:spcPts val="1600"/>
              </a:spcBef>
              <a:spcAft>
                <a:spcPts val="0"/>
              </a:spcAft>
              <a:buNone/>
            </a:pPr>
            <a:endParaRPr dirty="0"/>
          </a:p>
          <a:p>
            <a:pPr marL="0" lvl="0" indent="0" algn="l" rtl="0">
              <a:spcBef>
                <a:spcPts val="1600"/>
              </a:spcBef>
              <a:spcAft>
                <a:spcPts val="0"/>
              </a:spcAft>
              <a:buNone/>
            </a:pPr>
            <a:endParaRPr dirty="0"/>
          </a:p>
          <a:p>
            <a:pPr marL="0" lvl="0" indent="0" algn="l" rtl="0">
              <a:spcBef>
                <a:spcPts val="1600"/>
              </a:spcBef>
              <a:spcAft>
                <a:spcPts val="1600"/>
              </a:spcAft>
              <a:buNone/>
            </a:pPr>
            <a:endParaRPr b="1" dirty="0"/>
          </a:p>
        </p:txBody>
      </p:sp>
      <p:sp>
        <p:nvSpPr>
          <p:cNvPr id="153" name="Google Shape;153;p29"/>
          <p:cNvSpPr txBox="1">
            <a:spLocks noGrp="1"/>
          </p:cNvSpPr>
          <p:nvPr>
            <p:ph type="body" idx="2"/>
          </p:nvPr>
        </p:nvSpPr>
        <p:spPr>
          <a:xfrm>
            <a:off x="4829066" y="438800"/>
            <a:ext cx="3999900" cy="4130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b="1" dirty="0"/>
              <a:t>What's the effect of varying the window size on performance? Do you suppose there is an optimal window size for all images? Explain why or why not. </a:t>
            </a:r>
            <a:endParaRPr lang="en-US" b="1" dirty="0"/>
          </a:p>
          <a:p>
            <a:pPr marL="0" lvl="0" indent="0" algn="l" rtl="0">
              <a:spcBef>
                <a:spcPts val="0"/>
              </a:spcBef>
              <a:spcAft>
                <a:spcPts val="0"/>
              </a:spcAft>
              <a:buClr>
                <a:schemeClr val="dk1"/>
              </a:buClr>
              <a:buSzPts val="1100"/>
              <a:buFont typeface="Arial"/>
              <a:buNone/>
            </a:pPr>
            <a:endParaRPr lang="en-US" sz="1100" b="1" dirty="0"/>
          </a:p>
          <a:p>
            <a:pPr marL="0" lvl="0" indent="0" algn="l" rtl="0">
              <a:spcBef>
                <a:spcPts val="0"/>
              </a:spcBef>
              <a:spcAft>
                <a:spcPts val="0"/>
              </a:spcAft>
              <a:buClr>
                <a:schemeClr val="dk1"/>
              </a:buClr>
              <a:buSzPts val="1100"/>
              <a:buFont typeface="Arial"/>
              <a:buNone/>
            </a:pPr>
            <a:r>
              <a:rPr lang="en-US" sz="1100" dirty="0" smtClean="0"/>
              <a:t>Out of the four windows sizes, 5x5 performed the worst with a validation loss of 0.337. As the window size increased to 9x9, loss drops to 0.271. 11x11 is the optimal size with a loss 0.202. The loss start to increase as we increase window size further. At 15x15, the loss is 0.219.</a:t>
            </a:r>
            <a:br>
              <a:rPr lang="en-US" sz="1100" dirty="0" smtClean="0"/>
            </a:br>
            <a:endParaRPr lang="en-US" sz="1100" dirty="0" smtClean="0"/>
          </a:p>
          <a:p>
            <a:pPr marL="0" lvl="0" indent="0" algn="l" rtl="0">
              <a:spcBef>
                <a:spcPts val="0"/>
              </a:spcBef>
              <a:spcAft>
                <a:spcPts val="0"/>
              </a:spcAft>
              <a:buClr>
                <a:schemeClr val="dk1"/>
              </a:buClr>
              <a:buSzPts val="1100"/>
              <a:buFont typeface="Arial"/>
              <a:buNone/>
            </a:pPr>
            <a:r>
              <a:rPr lang="en-US" sz="1100" dirty="0" smtClean="0"/>
              <a:t>I don’t think there is one single optimal windows size for all images. For example, here 11x11 seems to be optimal. However, for images with higher resolution, 11x11 will be too small and not enough information/features can be included, and we may need windows size for example 31x31 to get the optimal result.</a:t>
            </a:r>
            <a:endParaRPr sz="1100" dirty="0"/>
          </a:p>
        </p:txBody>
      </p:sp>
      <p:sp>
        <p:nvSpPr>
          <p:cNvPr id="4" name="Rectangle 3"/>
          <p:cNvSpPr/>
          <p:nvPr/>
        </p:nvSpPr>
        <p:spPr>
          <a:xfrm>
            <a:off x="260399" y="4731145"/>
            <a:ext cx="3286105" cy="276999"/>
          </a:xfrm>
          <a:prstGeom prst="rect">
            <a:avLst/>
          </a:prstGeom>
        </p:spPr>
        <p:txBody>
          <a:bodyPr wrap="square">
            <a:spAutoFit/>
          </a:bodyPr>
          <a:lstStyle/>
          <a:p>
            <a:r>
              <a:rPr lang="en-US" sz="1200" dirty="0" smtClean="0">
                <a:solidFill>
                  <a:schemeClr val="tx2">
                    <a:lumMod val="75000"/>
                  </a:schemeClr>
                </a:solidFill>
              </a:rPr>
              <a:t>(max_epoch </a:t>
            </a:r>
            <a:r>
              <a:rPr lang="en-US" sz="1200" dirty="0">
                <a:solidFill>
                  <a:schemeClr val="tx2">
                    <a:lumMod val="75000"/>
                  </a:schemeClr>
                </a:solidFill>
              </a:rPr>
              <a:t>= </a:t>
            </a:r>
            <a:r>
              <a:rPr lang="en-US" sz="1200" dirty="0" smtClean="0">
                <a:solidFill>
                  <a:schemeClr val="tx2">
                    <a:lumMod val="75000"/>
                  </a:schemeClr>
                </a:solidFill>
              </a:rPr>
              <a:t>200, learning_rate </a:t>
            </a:r>
            <a:r>
              <a:rPr lang="en-US" sz="1200" dirty="0">
                <a:solidFill>
                  <a:schemeClr val="tx2">
                    <a:lumMod val="75000"/>
                  </a:schemeClr>
                </a:solidFill>
              </a:rPr>
              <a:t>= </a:t>
            </a:r>
            <a:r>
              <a:rPr lang="en-US" sz="1200" dirty="0" smtClean="0">
                <a:solidFill>
                  <a:schemeClr val="tx2">
                    <a:lumMod val="75000"/>
                  </a:schemeClr>
                </a:solidFill>
              </a:rPr>
              <a:t>0.00005)</a:t>
            </a:r>
            <a:endParaRPr lang="en-US" sz="1200" dirty="0">
              <a:solidFill>
                <a:schemeClr val="tx2">
                  <a:lumMod val="75000"/>
                </a:schemeClr>
              </a:solidFill>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1700" y="1410056"/>
            <a:ext cx="1615155" cy="1076770"/>
          </a:xfrm>
          <a:prstGeom prst="rect">
            <a:avLst/>
          </a:prstGeom>
        </p:spPr>
      </p:pic>
      <p:sp>
        <p:nvSpPr>
          <p:cNvPr id="6" name="Rectangle 5"/>
          <p:cNvSpPr/>
          <p:nvPr/>
        </p:nvSpPr>
        <p:spPr>
          <a:xfrm>
            <a:off x="142771" y="2501432"/>
            <a:ext cx="1933857" cy="276999"/>
          </a:xfrm>
          <a:prstGeom prst="rect">
            <a:avLst/>
          </a:prstGeom>
        </p:spPr>
        <p:txBody>
          <a:bodyPr wrap="square">
            <a:spAutoFit/>
          </a:bodyPr>
          <a:lstStyle/>
          <a:p>
            <a:r>
              <a:rPr lang="en-US" sz="1200" dirty="0" smtClean="0">
                <a:solidFill>
                  <a:schemeClr val="tx1"/>
                </a:solidFill>
              </a:rPr>
              <a:t>5x5, validation loss: </a:t>
            </a:r>
            <a:r>
              <a:rPr lang="nb-NO" sz="1200" dirty="0" smtClean="0">
                <a:solidFill>
                  <a:schemeClr val="tx1"/>
                </a:solidFill>
              </a:rPr>
              <a:t>0.337</a:t>
            </a:r>
            <a:endParaRPr lang="en-US" sz="1200" dirty="0">
              <a:solidFill>
                <a:schemeClr val="tx1"/>
              </a:solidFill>
            </a:endParaRPr>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57331" y="1407834"/>
            <a:ext cx="1644593" cy="1078992"/>
          </a:xfrm>
          <a:prstGeom prst="rect">
            <a:avLst/>
          </a:prstGeom>
        </p:spPr>
      </p:pic>
      <p:sp>
        <p:nvSpPr>
          <p:cNvPr id="8" name="Rectangle 7"/>
          <p:cNvSpPr/>
          <p:nvPr/>
        </p:nvSpPr>
        <p:spPr>
          <a:xfrm>
            <a:off x="2411926" y="2501432"/>
            <a:ext cx="2269155" cy="276999"/>
          </a:xfrm>
          <a:prstGeom prst="rect">
            <a:avLst/>
          </a:prstGeom>
        </p:spPr>
        <p:txBody>
          <a:bodyPr wrap="square">
            <a:spAutoFit/>
          </a:bodyPr>
          <a:lstStyle/>
          <a:p>
            <a:r>
              <a:rPr lang="en-US" sz="1200" dirty="0" smtClean="0">
                <a:solidFill>
                  <a:schemeClr val="tx1"/>
                </a:solidFill>
              </a:rPr>
              <a:t>9x9, validation loss: </a:t>
            </a:r>
            <a:r>
              <a:rPr lang="hr-HR" sz="1200" dirty="0" smtClean="0">
                <a:solidFill>
                  <a:schemeClr val="tx1"/>
                </a:solidFill>
              </a:rPr>
              <a:t>0.271</a:t>
            </a:r>
            <a:endParaRPr lang="en-US" sz="1200" dirty="0">
              <a:solidFill>
                <a:schemeClr val="tx1"/>
              </a:solidFill>
            </a:endParaRPr>
          </a:p>
        </p:txBody>
      </p:sp>
      <p:pic>
        <p:nvPicPr>
          <p:cNvPr id="7"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1700" y="2909408"/>
            <a:ext cx="1618488" cy="1078992"/>
          </a:xfrm>
          <a:prstGeom prst="rect">
            <a:avLst/>
          </a:prstGeom>
        </p:spPr>
      </p:pic>
      <p:sp>
        <p:nvSpPr>
          <p:cNvPr id="11" name="Rectangle 10"/>
          <p:cNvSpPr/>
          <p:nvPr/>
        </p:nvSpPr>
        <p:spPr>
          <a:xfrm>
            <a:off x="117134" y="4119377"/>
            <a:ext cx="2113318" cy="276999"/>
          </a:xfrm>
          <a:prstGeom prst="rect">
            <a:avLst/>
          </a:prstGeom>
        </p:spPr>
        <p:txBody>
          <a:bodyPr wrap="square">
            <a:spAutoFit/>
          </a:bodyPr>
          <a:lstStyle/>
          <a:p>
            <a:r>
              <a:rPr lang="en-US" sz="1200" dirty="0" smtClean="0">
                <a:solidFill>
                  <a:schemeClr val="tx1"/>
                </a:solidFill>
              </a:rPr>
              <a:t>11x11, validation loss: </a:t>
            </a:r>
            <a:r>
              <a:rPr lang="nb-NO" sz="1200" dirty="0" smtClean="0">
                <a:solidFill>
                  <a:schemeClr val="tx1"/>
                </a:solidFill>
              </a:rPr>
              <a:t>0.202</a:t>
            </a:r>
            <a:endParaRPr lang="en-US" sz="1200" dirty="0">
              <a:solidFill>
                <a:schemeClr val="tx1"/>
              </a:solidFill>
            </a:endParaRPr>
          </a:p>
        </p:txBody>
      </p:sp>
      <p:pic>
        <p:nvPicPr>
          <p:cNvPr id="9" name="Picture 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570383" y="2909408"/>
            <a:ext cx="1618488" cy="1078992"/>
          </a:xfrm>
          <a:prstGeom prst="rect">
            <a:avLst/>
          </a:prstGeom>
        </p:spPr>
      </p:pic>
      <p:sp>
        <p:nvSpPr>
          <p:cNvPr id="13" name="Rectangle 12"/>
          <p:cNvSpPr/>
          <p:nvPr/>
        </p:nvSpPr>
        <p:spPr>
          <a:xfrm>
            <a:off x="2322969" y="4119376"/>
            <a:ext cx="2113318" cy="276999"/>
          </a:xfrm>
          <a:prstGeom prst="rect">
            <a:avLst/>
          </a:prstGeom>
        </p:spPr>
        <p:txBody>
          <a:bodyPr wrap="square">
            <a:spAutoFit/>
          </a:bodyPr>
          <a:lstStyle/>
          <a:p>
            <a:r>
              <a:rPr lang="en-US" sz="1200" dirty="0" smtClean="0">
                <a:solidFill>
                  <a:schemeClr val="tx1"/>
                </a:solidFill>
              </a:rPr>
              <a:t>15x15, validation loss: </a:t>
            </a:r>
            <a:r>
              <a:rPr lang="nb-NO" sz="1200" dirty="0" smtClean="0">
                <a:solidFill>
                  <a:schemeClr val="tx1"/>
                </a:solidFill>
              </a:rPr>
              <a:t>0.219</a:t>
            </a:r>
            <a:endParaRPr lang="en-US" sz="1200" dirty="0">
              <a:solidFill>
                <a:schemeClr val="tx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30"/>
          <p:cNvSpPr txBox="1">
            <a:spLocks noGrp="1"/>
          </p:cNvSpPr>
          <p:nvPr>
            <p:ph type="body" idx="1"/>
          </p:nvPr>
        </p:nvSpPr>
        <p:spPr>
          <a:xfrm>
            <a:off x="311700" y="438800"/>
            <a:ext cx="3999900" cy="4130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Copy the training loss plot and the final average validation loss of your extended network, as well as the network layer list.</a:t>
            </a:r>
            <a:endParaRPr b="1" dirty="0"/>
          </a:p>
          <a:p>
            <a:pPr marL="0" lvl="0" indent="0" algn="l" rtl="0">
              <a:spcBef>
                <a:spcPts val="1600"/>
              </a:spcBef>
              <a:spcAft>
                <a:spcPts val="0"/>
              </a:spcAft>
              <a:buNone/>
            </a:pPr>
            <a:endParaRPr dirty="0"/>
          </a:p>
          <a:p>
            <a:pPr marL="0" lvl="0" indent="0" algn="l" rtl="0">
              <a:spcBef>
                <a:spcPts val="1600"/>
              </a:spcBef>
              <a:spcAft>
                <a:spcPts val="0"/>
              </a:spcAft>
              <a:buNone/>
            </a:pPr>
            <a:endParaRPr dirty="0"/>
          </a:p>
          <a:p>
            <a:pPr marL="0" lvl="0" indent="0" algn="l" rtl="0">
              <a:spcBef>
                <a:spcPts val="1600"/>
              </a:spcBef>
              <a:spcAft>
                <a:spcPts val="1600"/>
              </a:spcAft>
              <a:buNone/>
            </a:pPr>
            <a:endParaRPr b="1" dirty="0"/>
          </a:p>
        </p:txBody>
      </p:sp>
      <p:sp>
        <p:nvSpPr>
          <p:cNvPr id="159" name="Google Shape;159;p30"/>
          <p:cNvSpPr txBox="1">
            <a:spLocks noGrp="1"/>
          </p:cNvSpPr>
          <p:nvPr>
            <p:ph type="body" idx="2"/>
          </p:nvPr>
        </p:nvSpPr>
        <p:spPr>
          <a:xfrm>
            <a:off x="4832400" y="438775"/>
            <a:ext cx="3999900" cy="4130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What layers did you add? What's the effect of adding more layers without adding more data? Why?</a:t>
            </a:r>
            <a:endParaRPr b="1" dirty="0"/>
          </a:p>
          <a:p>
            <a:pPr marL="0" lvl="0" indent="0" algn="l" rtl="0">
              <a:spcBef>
                <a:spcPts val="1600"/>
              </a:spcBef>
              <a:spcAft>
                <a:spcPts val="0"/>
              </a:spcAft>
              <a:buNone/>
            </a:pPr>
            <a:r>
              <a:rPr lang="en-US" sz="1100" dirty="0" smtClean="0"/>
              <a:t>One fully connected layer is added. Adding more layers without adding more data wil</a:t>
            </a:r>
            <a:r>
              <a:rPr lang="en-US" sz="1100" dirty="0" smtClean="0"/>
              <a:t>l likely to cause overfitting. The model will fit the training set better, illustrated by the better training performance from ExtendedNet as the loss is always &lt; 0.2 in the right image, but it will not necessarily fit the testing set better. (validation loss for </a:t>
            </a:r>
            <a:r>
              <a:rPr lang="en-US" sz="1100" dirty="0"/>
              <a:t>E</a:t>
            </a:r>
            <a:r>
              <a:rPr lang="en-US" sz="1100" dirty="0" smtClean="0"/>
              <a:t>xtendedNet &gt;MCNET )</a:t>
            </a:r>
            <a:endParaRPr dirty="0"/>
          </a:p>
          <a:p>
            <a:pPr marL="0" lvl="0" indent="0" algn="l" rtl="0">
              <a:spcBef>
                <a:spcPts val="1600"/>
              </a:spcBef>
              <a:spcAft>
                <a:spcPts val="1600"/>
              </a:spcAft>
              <a:buNone/>
            </a:pPr>
            <a:endParaRPr dirty="0"/>
          </a:p>
        </p:txBody>
      </p:sp>
      <p:sp>
        <p:nvSpPr>
          <p:cNvPr id="4" name="Rectangle 3"/>
          <p:cNvSpPr/>
          <p:nvPr/>
        </p:nvSpPr>
        <p:spPr>
          <a:xfrm>
            <a:off x="0" y="4741655"/>
            <a:ext cx="4832400" cy="276999"/>
          </a:xfrm>
          <a:prstGeom prst="rect">
            <a:avLst/>
          </a:prstGeom>
        </p:spPr>
        <p:txBody>
          <a:bodyPr wrap="square">
            <a:spAutoFit/>
          </a:bodyPr>
          <a:lstStyle/>
          <a:p>
            <a:r>
              <a:rPr lang="en-US" sz="1200" dirty="0" smtClean="0">
                <a:solidFill>
                  <a:schemeClr val="tx2">
                    <a:lumMod val="75000"/>
                  </a:schemeClr>
                </a:solidFill>
              </a:rPr>
              <a:t>(max_epoch </a:t>
            </a:r>
            <a:r>
              <a:rPr lang="en-US" sz="1200" dirty="0">
                <a:solidFill>
                  <a:schemeClr val="tx2">
                    <a:lumMod val="75000"/>
                  </a:schemeClr>
                </a:solidFill>
              </a:rPr>
              <a:t>= </a:t>
            </a:r>
            <a:r>
              <a:rPr lang="en-US" sz="1200" dirty="0" smtClean="0">
                <a:solidFill>
                  <a:schemeClr val="tx2">
                    <a:lumMod val="75000"/>
                  </a:schemeClr>
                </a:solidFill>
              </a:rPr>
              <a:t>200, learning_rate </a:t>
            </a:r>
            <a:r>
              <a:rPr lang="en-US" sz="1200" dirty="0">
                <a:solidFill>
                  <a:schemeClr val="tx2">
                    <a:lumMod val="75000"/>
                  </a:schemeClr>
                </a:solidFill>
              </a:rPr>
              <a:t>= </a:t>
            </a:r>
            <a:r>
              <a:rPr lang="en-US" sz="1200" dirty="0" smtClean="0">
                <a:solidFill>
                  <a:schemeClr val="tx2">
                    <a:lumMod val="75000"/>
                  </a:schemeClr>
                </a:solidFill>
              </a:rPr>
              <a:t>0.0001, window_size = 11x11)</a:t>
            </a:r>
            <a:endParaRPr lang="en-US" sz="1200" dirty="0">
              <a:solidFill>
                <a:schemeClr val="tx2">
                  <a:lumMod val="75000"/>
                </a:schemeClr>
              </a:solidFill>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2796" y="1456272"/>
            <a:ext cx="2407944" cy="1526212"/>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32400" y="2982484"/>
            <a:ext cx="2021667" cy="1347778"/>
          </a:xfrm>
          <a:prstGeom prst="rect">
            <a:avLst/>
          </a:prstGeom>
        </p:spPr>
      </p:pic>
      <p:sp>
        <p:nvSpPr>
          <p:cNvPr id="8" name="Rectangle 7"/>
          <p:cNvSpPr/>
          <p:nvPr/>
        </p:nvSpPr>
        <p:spPr>
          <a:xfrm>
            <a:off x="4970360" y="4360907"/>
            <a:ext cx="1745745" cy="461665"/>
          </a:xfrm>
          <a:prstGeom prst="rect">
            <a:avLst/>
          </a:prstGeom>
        </p:spPr>
        <p:txBody>
          <a:bodyPr wrap="square">
            <a:spAutoFit/>
          </a:bodyPr>
          <a:lstStyle/>
          <a:p>
            <a:r>
              <a:rPr lang="en-US" sz="1200" dirty="0" smtClean="0"/>
              <a:t>MCNET</a:t>
            </a:r>
            <a:endParaRPr lang="en-US" sz="1200" dirty="0" smtClean="0">
              <a:solidFill>
                <a:schemeClr val="tx1"/>
              </a:solidFill>
            </a:endParaRPr>
          </a:p>
          <a:p>
            <a:r>
              <a:rPr lang="en-US" sz="1200" dirty="0" smtClean="0">
                <a:solidFill>
                  <a:schemeClr val="tx1"/>
                </a:solidFill>
              </a:rPr>
              <a:t>validation loss: </a:t>
            </a:r>
            <a:r>
              <a:rPr lang="nb-NO" sz="1200" dirty="0" smtClean="0">
                <a:solidFill>
                  <a:schemeClr val="tx1"/>
                </a:solidFill>
              </a:rPr>
              <a:t>0.226</a:t>
            </a:r>
            <a:endParaRPr lang="en-US" sz="1200" dirty="0">
              <a:solidFill>
                <a:schemeClr val="tx1"/>
              </a:solidFill>
            </a:endParaRPr>
          </a:p>
        </p:txBody>
      </p:sp>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53616" y="2982484"/>
            <a:ext cx="2048772" cy="1344168"/>
          </a:xfrm>
          <a:prstGeom prst="rect">
            <a:avLst/>
          </a:prstGeom>
        </p:spPr>
      </p:pic>
      <p:sp>
        <p:nvSpPr>
          <p:cNvPr id="10" name="Rectangle 9"/>
          <p:cNvSpPr/>
          <p:nvPr/>
        </p:nvSpPr>
        <p:spPr>
          <a:xfrm>
            <a:off x="7135058" y="4360907"/>
            <a:ext cx="1685887" cy="461665"/>
          </a:xfrm>
          <a:prstGeom prst="rect">
            <a:avLst/>
          </a:prstGeom>
        </p:spPr>
        <p:txBody>
          <a:bodyPr wrap="square">
            <a:spAutoFit/>
          </a:bodyPr>
          <a:lstStyle/>
          <a:p>
            <a:r>
              <a:rPr lang="en-US" sz="1200" dirty="0" smtClean="0"/>
              <a:t>ExtendedNet</a:t>
            </a:r>
            <a:endParaRPr lang="en-US" sz="1200" dirty="0">
              <a:solidFill>
                <a:schemeClr val="tx1"/>
              </a:solidFill>
            </a:endParaRPr>
          </a:p>
          <a:p>
            <a:r>
              <a:rPr lang="en-US" sz="1200" dirty="0" smtClean="0">
                <a:solidFill>
                  <a:schemeClr val="tx1"/>
                </a:solidFill>
              </a:rPr>
              <a:t>validation loss: </a:t>
            </a:r>
            <a:r>
              <a:rPr lang="nb-NO" sz="1200" dirty="0" smtClean="0">
                <a:solidFill>
                  <a:schemeClr val="tx1"/>
                </a:solidFill>
              </a:rPr>
              <a:t>0.228</a:t>
            </a:r>
            <a:endParaRPr lang="en-US" sz="1200" dirty="0">
              <a:solidFill>
                <a:schemeClr val="tx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31"/>
          <p:cNvSpPr txBox="1">
            <a:spLocks noGrp="1"/>
          </p:cNvSpPr>
          <p:nvPr>
            <p:ph type="body" idx="1"/>
          </p:nvPr>
        </p:nvSpPr>
        <p:spPr>
          <a:xfrm>
            <a:off x="311700" y="438800"/>
            <a:ext cx="3999900" cy="4130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Show the matching cost comparison plot between SSD/SAD/MCCNN</a:t>
            </a:r>
            <a:endParaRPr b="1" dirty="0"/>
          </a:p>
          <a:p>
            <a:pPr marL="0" lvl="0" indent="0" algn="l" rtl="0">
              <a:spcBef>
                <a:spcPts val="1600"/>
              </a:spcBef>
              <a:spcAft>
                <a:spcPts val="0"/>
              </a:spcAft>
              <a:buNone/>
            </a:pPr>
            <a:endParaRPr dirty="0"/>
          </a:p>
          <a:p>
            <a:pPr marL="0" lvl="0" indent="0" algn="l" rtl="0">
              <a:spcBef>
                <a:spcPts val="1600"/>
              </a:spcBef>
              <a:spcAft>
                <a:spcPts val="0"/>
              </a:spcAft>
              <a:buNone/>
            </a:pPr>
            <a:endParaRPr dirty="0"/>
          </a:p>
          <a:p>
            <a:pPr marL="0" lvl="0" indent="0" algn="l" rtl="0">
              <a:spcBef>
                <a:spcPts val="1600"/>
              </a:spcBef>
              <a:spcAft>
                <a:spcPts val="1600"/>
              </a:spcAft>
              <a:buNone/>
            </a:pPr>
            <a:endParaRPr b="1" dirty="0"/>
          </a:p>
        </p:txBody>
      </p:sp>
      <p:sp>
        <p:nvSpPr>
          <p:cNvPr id="165" name="Google Shape;165;p31"/>
          <p:cNvSpPr txBox="1">
            <a:spLocks noGrp="1"/>
          </p:cNvSpPr>
          <p:nvPr>
            <p:ph type="body" idx="2"/>
          </p:nvPr>
        </p:nvSpPr>
        <p:spPr>
          <a:xfrm>
            <a:off x="4832400" y="438775"/>
            <a:ext cx="3999900" cy="4130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Based on the matching cost comparison plot, how are SSD, SAD, and MC-CNN different? Can you think of a scenario where matching with MC-CNN would be </a:t>
            </a:r>
            <a:r>
              <a:rPr lang="en" b="1" dirty="0" err="1"/>
              <a:t>prefered</a:t>
            </a:r>
            <a:r>
              <a:rPr lang="en" b="1" dirty="0"/>
              <a:t> over SSD/SAD?</a:t>
            </a:r>
            <a:endParaRPr b="1" dirty="0"/>
          </a:p>
          <a:p>
            <a:pPr marL="0" lvl="0" indent="0" algn="l" rtl="0">
              <a:spcBef>
                <a:spcPts val="1600"/>
              </a:spcBef>
              <a:spcAft>
                <a:spcPts val="0"/>
              </a:spcAft>
              <a:buNone/>
            </a:pPr>
            <a:r>
              <a:rPr lang="en" dirty="0"/>
              <a:t>&lt;Text here&gt;</a:t>
            </a:r>
            <a:endParaRPr dirty="0"/>
          </a:p>
          <a:p>
            <a:pPr marL="0" lvl="0" indent="0" algn="l" rtl="0">
              <a:spcBef>
                <a:spcPts val="1600"/>
              </a:spcBef>
              <a:spcAft>
                <a:spcPts val="0"/>
              </a:spcAft>
              <a:buNone/>
            </a:pPr>
            <a:endParaRPr dirty="0"/>
          </a:p>
          <a:p>
            <a:pPr marL="0" lvl="0" indent="0" algn="l" rtl="0">
              <a:spcBef>
                <a:spcPts val="1600"/>
              </a:spcBef>
              <a:spcAft>
                <a:spcPts val="1600"/>
              </a:spcAft>
              <a:buNone/>
            </a:pPr>
            <a:endParaRPr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7127" y="2017984"/>
            <a:ext cx="4069046" cy="1587501"/>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32"/>
          <p:cNvSpPr txBox="1">
            <a:spLocks noGrp="1"/>
          </p:cNvSpPr>
          <p:nvPr>
            <p:ph type="body" idx="1"/>
          </p:nvPr>
        </p:nvSpPr>
        <p:spPr>
          <a:xfrm>
            <a:off x="311700" y="438800"/>
            <a:ext cx="3999900" cy="4130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t>Show the disparity map comparison between SAD and MCCNN </a:t>
            </a:r>
            <a:endParaRPr b="1"/>
          </a:p>
          <a:p>
            <a:pPr marL="0" lvl="0" indent="0" algn="l" rtl="0">
              <a:spcBef>
                <a:spcPts val="1600"/>
              </a:spcBef>
              <a:spcAft>
                <a:spcPts val="0"/>
              </a:spcAft>
              <a:buNone/>
            </a:pPr>
            <a:r>
              <a:rPr lang="en"/>
              <a:t>&lt;Copy figure image here&gt;</a:t>
            </a:r>
            <a:endParaRPr/>
          </a:p>
          <a:p>
            <a:pPr marL="0" lvl="0" indent="0" algn="l" rtl="0">
              <a:spcBef>
                <a:spcPts val="1600"/>
              </a:spcBef>
              <a:spcAft>
                <a:spcPts val="0"/>
              </a:spcAft>
              <a:buNone/>
            </a:pPr>
            <a:endParaRPr/>
          </a:p>
          <a:p>
            <a:pPr marL="0" lvl="0" indent="0" algn="l" rtl="0">
              <a:spcBef>
                <a:spcPts val="1600"/>
              </a:spcBef>
              <a:spcAft>
                <a:spcPts val="0"/>
              </a:spcAft>
              <a:buNone/>
            </a:pPr>
            <a:endParaRPr/>
          </a:p>
          <a:p>
            <a:pPr marL="0" lvl="0" indent="0" algn="l" rtl="0">
              <a:spcBef>
                <a:spcPts val="1600"/>
              </a:spcBef>
              <a:spcAft>
                <a:spcPts val="1600"/>
              </a:spcAft>
              <a:buNone/>
            </a:pPr>
            <a:endParaRPr b="1"/>
          </a:p>
        </p:txBody>
      </p:sp>
      <p:sp>
        <p:nvSpPr>
          <p:cNvPr id="171" name="Google Shape;171;p32"/>
          <p:cNvSpPr txBox="1">
            <a:spLocks noGrp="1"/>
          </p:cNvSpPr>
          <p:nvPr>
            <p:ph type="body" idx="2"/>
          </p:nvPr>
        </p:nvSpPr>
        <p:spPr>
          <a:xfrm>
            <a:off x="4832400" y="438775"/>
            <a:ext cx="3999900" cy="4130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t>Qualitatively, between SAD and MCCNN, which disparity map do you think looks better? Explain your reasoning.</a:t>
            </a:r>
            <a:endParaRPr b="1"/>
          </a:p>
          <a:p>
            <a:pPr marL="0" lvl="0" indent="0" algn="l" rtl="0">
              <a:spcBef>
                <a:spcPts val="1600"/>
              </a:spcBef>
              <a:spcAft>
                <a:spcPts val="0"/>
              </a:spcAft>
              <a:buNone/>
            </a:pPr>
            <a:r>
              <a:rPr lang="en"/>
              <a:t>&lt;Text here&gt;</a:t>
            </a:r>
            <a:endParaRPr/>
          </a:p>
          <a:p>
            <a:pPr marL="0" lvl="0" indent="0" algn="l" rtl="0">
              <a:spcBef>
                <a:spcPts val="1600"/>
              </a:spcBef>
              <a:spcAft>
                <a:spcPts val="0"/>
              </a:spcAft>
              <a:buNone/>
            </a:pPr>
            <a:endParaRPr/>
          </a:p>
          <a:p>
            <a:pPr marL="0" lvl="0" indent="0" algn="l" rtl="0">
              <a:spcBef>
                <a:spcPts val="1600"/>
              </a:spcBef>
              <a:spcAft>
                <a:spcPts val="1600"/>
              </a:spcAft>
              <a:buNone/>
            </a:pP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33"/>
          <p:cNvSpPr txBox="1">
            <a:spLocks noGrp="1"/>
          </p:cNvSpPr>
          <p:nvPr>
            <p:ph type="body" idx="1"/>
          </p:nvPr>
        </p:nvSpPr>
        <p:spPr>
          <a:xfrm>
            <a:off x="311700" y="438800"/>
            <a:ext cx="3999900" cy="4130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t>Show the quantitative evaluation between SAD and MCCNN (average error, etc.)</a:t>
            </a:r>
            <a:endParaRPr b="1"/>
          </a:p>
          <a:p>
            <a:pPr marL="0" lvl="0" indent="0" algn="l" rtl="0">
              <a:spcBef>
                <a:spcPts val="1600"/>
              </a:spcBef>
              <a:spcAft>
                <a:spcPts val="0"/>
              </a:spcAft>
              <a:buNone/>
            </a:pPr>
            <a:r>
              <a:rPr lang="en"/>
              <a:t>&lt;Text or screenshot here&gt;</a:t>
            </a:r>
            <a:endParaRPr/>
          </a:p>
          <a:p>
            <a:pPr marL="0" lvl="0" indent="0" algn="l" rtl="0">
              <a:spcBef>
                <a:spcPts val="1600"/>
              </a:spcBef>
              <a:spcAft>
                <a:spcPts val="0"/>
              </a:spcAft>
              <a:buNone/>
            </a:pPr>
            <a:endParaRPr/>
          </a:p>
          <a:p>
            <a:pPr marL="0" lvl="0" indent="0" algn="l" rtl="0">
              <a:spcBef>
                <a:spcPts val="1600"/>
              </a:spcBef>
              <a:spcAft>
                <a:spcPts val="0"/>
              </a:spcAft>
              <a:buNone/>
            </a:pPr>
            <a:endParaRPr/>
          </a:p>
          <a:p>
            <a:pPr marL="0" lvl="0" indent="0" algn="l" rtl="0">
              <a:spcBef>
                <a:spcPts val="1600"/>
              </a:spcBef>
              <a:spcAft>
                <a:spcPts val="1600"/>
              </a:spcAft>
              <a:buNone/>
            </a:pPr>
            <a:endParaRPr b="1"/>
          </a:p>
        </p:txBody>
      </p:sp>
      <p:sp>
        <p:nvSpPr>
          <p:cNvPr id="177" name="Google Shape;177;p33"/>
          <p:cNvSpPr txBox="1">
            <a:spLocks noGrp="1"/>
          </p:cNvSpPr>
          <p:nvPr>
            <p:ph type="body" idx="2"/>
          </p:nvPr>
        </p:nvSpPr>
        <p:spPr>
          <a:xfrm>
            <a:off x="4832400" y="438775"/>
            <a:ext cx="3999900" cy="4130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t>Quantitatively, between SAD and MCCNN, which one achieve better score on the metrics? Why do you think that's the case?</a:t>
            </a:r>
            <a:endParaRPr b="1"/>
          </a:p>
          <a:p>
            <a:pPr marL="0" lvl="0" indent="0" algn="l" rtl="0">
              <a:spcBef>
                <a:spcPts val="1600"/>
              </a:spcBef>
              <a:spcAft>
                <a:spcPts val="0"/>
              </a:spcAft>
              <a:buNone/>
            </a:pPr>
            <a:r>
              <a:rPr lang="en"/>
              <a:t>&lt;Text here&gt;</a:t>
            </a:r>
            <a:endParaRPr/>
          </a:p>
          <a:p>
            <a:pPr marL="0" lvl="0" indent="0" algn="l" rtl="0">
              <a:spcBef>
                <a:spcPts val="1600"/>
              </a:spcBef>
              <a:spcAft>
                <a:spcPts val="0"/>
              </a:spcAft>
              <a:buNone/>
            </a:pPr>
            <a:endParaRPr/>
          </a:p>
          <a:p>
            <a:pPr marL="0" lvl="0" indent="0" algn="l" rtl="0">
              <a:spcBef>
                <a:spcPts val="1600"/>
              </a:spcBef>
              <a:spcAft>
                <a:spcPts val="1600"/>
              </a:spcAft>
              <a:buNone/>
            </a:pP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3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Extra Credit</a:t>
            </a:r>
            <a:endParaRPr/>
          </a:p>
        </p:txBody>
      </p:sp>
      <p:sp>
        <p:nvSpPr>
          <p:cNvPr id="183" name="Google Shape;183;p3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t>&lt;Discuss What extra credit you did and analyze it. Include Images of results as well &gt;</a:t>
            </a: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940</TotalTime>
  <Words>2132</Words>
  <Application>Microsoft Macintosh PowerPoint</Application>
  <PresentationFormat>On-screen Show (16:9)</PresentationFormat>
  <Paragraphs>111</Paragraphs>
  <Slides>22</Slides>
  <Notes>22</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22</vt:i4>
      </vt:variant>
    </vt:vector>
  </HeadingPairs>
  <TitlesOfParts>
    <vt:vector size="24" baseType="lpstr">
      <vt:lpstr>Arial</vt:lpstr>
      <vt:lpstr>Simple Light</vt:lpstr>
      <vt:lpstr>CS 4476 Project 4</vt:lpstr>
      <vt:lpstr>Part 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Smoothing</vt:lpstr>
      <vt:lpstr>Smoothing(contd.)</vt:lpstr>
      <vt:lpstr>Part 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Extra Credit</vt:lpstr>
    </vt:vector>
  </TitlesOfParts>
  <LinksUpToDate>false</LinksUpToDate>
  <SharedDoc>false</SharedDoc>
  <HyperlinksChanged>false</HyperlinksChanged>
  <AppVersion>15.0037</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4476 Project 4</dc:title>
  <cp:lastModifiedBy>Lyu, Jie</cp:lastModifiedBy>
  <cp:revision>41</cp:revision>
  <dcterms:modified xsi:type="dcterms:W3CDTF">2019-11-02T22:40:36Z</dcterms:modified>
</cp:coreProperties>
</file>